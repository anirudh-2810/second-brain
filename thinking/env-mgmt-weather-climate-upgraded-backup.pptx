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6" d="100"/>
          <a:sy n="76" d="100"/>
        </p:scale>
        <p:origin x="4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1311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3.jpeg"/><Relationship Id="rId4" Type="http://schemas.openxmlformats.org/officeDocument/2006/relationships/image" Target="../media/image24.png"/><Relationship Id="rId5"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5000"/>
          </a:blip>
          <a:stretch>
            <a:fillRect/>
          </a:stretch>
        </p:blipFill>
        <p:spPr>
          <a:xfrm>
            <a:off x="0" y="0"/>
            <a:ext cx="18288000" cy="10287000"/>
          </a:xfrm>
          <a:prstGeom prst="rect">
            <a:avLst/>
          </a:prstGeom>
        </p:spPr>
      </p:pic>
      <p:pic>
        <p:nvPicPr>
          <p:cNvPr id="3" name="Image 1" descr="preencoded.png"/>
          <p:cNvPicPr>
            <a:picLocks noChangeAspect="1"/>
          </p:cNvPicPr>
          <p:nvPr/>
        </p:nvPicPr>
        <p:blipFill>
          <a:blip r:embed="rId4"/>
          <a:stretch>
            <a:fillRect/>
          </a:stretch>
        </p:blipFill>
        <p:spPr>
          <a:xfrm>
            <a:off x="-382229" y="0"/>
            <a:ext cx="18288000" cy="10287000"/>
          </a:xfrm>
          <a:prstGeom prst="rect">
            <a:avLst/>
          </a:prstGeom>
        </p:spPr>
      </p:pic>
      <p:pic>
        <p:nvPicPr>
          <p:cNvPr id="4" name="Image 2" descr="preencoded.png"/>
          <p:cNvPicPr>
            <a:picLocks noChangeAspect="1"/>
          </p:cNvPicPr>
          <p:nvPr/>
        </p:nvPicPr>
        <p:blipFill>
          <a:blip r:embed="rId5"/>
          <a:stretch>
            <a:fillRect/>
          </a:stretch>
        </p:blipFill>
        <p:spPr>
          <a:xfrm>
            <a:off x="1524000" y="3733800"/>
            <a:ext cx="857250" cy="76200"/>
          </a:xfrm>
          <a:prstGeom prst="rect">
            <a:avLst/>
          </a:prstGeom>
        </p:spPr>
      </p:pic>
      <p:sp>
        <p:nvSpPr>
          <p:cNvPr id="5" name="Text 0"/>
          <p:cNvSpPr/>
          <p:nvPr/>
        </p:nvSpPr>
        <p:spPr>
          <a:xfrm>
            <a:off x="1524000" y="3143250"/>
            <a:ext cx="6667500" cy="381000"/>
          </a:xfrm>
          <a:prstGeom prst="rect">
            <a:avLst/>
          </a:prstGeom>
          <a:noFill/>
          <a:ln/>
        </p:spPr>
        <p:txBody>
          <a:bodyPr wrap="square" rtlCol="0" anchor="ctr"/>
          <a:lstStyle/>
          <a:p>
            <a:pPr marL="0" indent="0" algn="l">
              <a:buNone/>
            </a:pPr>
            <a:r>
              <a:rPr lang="en-US" sz="1950" b="1" dirty="0">
                <a:solidFill>
                  <a:srgbClr val="059669"/>
                </a:solidFill>
                <a:latin typeface="Inter" pitchFamily="34" charset="0"/>
                <a:ea typeface="Inter" pitchFamily="34" charset="-122"/>
                <a:cs typeface="Inter" pitchFamily="34" charset="-120"/>
              </a:rPr>
              <a:t>ENVIRONMENTAL MANAGEMENT</a:t>
            </a:r>
            <a:endParaRPr lang="en-US" sz="1950" dirty="0"/>
          </a:p>
        </p:txBody>
      </p:sp>
      <p:sp>
        <p:nvSpPr>
          <p:cNvPr id="6" name="Text 1"/>
          <p:cNvSpPr/>
          <p:nvPr/>
        </p:nvSpPr>
        <p:spPr>
          <a:xfrm>
            <a:off x="1523295" y="4000500"/>
            <a:ext cx="11430000" cy="2533650"/>
          </a:xfrm>
          <a:prstGeom prst="rect">
            <a:avLst/>
          </a:prstGeom>
          <a:noFill/>
          <a:ln/>
        </p:spPr>
        <p:txBody>
          <a:bodyPr wrap="square" rtlCol="0" anchor="ctr"/>
          <a:lstStyle/>
          <a:p>
            <a:pPr marL="0" indent="0" algn="l">
              <a:lnSpc>
                <a:spcPct val="95000"/>
              </a:lnSpc>
              <a:buNone/>
            </a:pPr>
            <a:r>
              <a:rPr lang="en-US" sz="10500" b="1" dirty="0">
                <a:solidFill>
                  <a:srgbClr val="F8FAFC"/>
                </a:solidFill>
                <a:latin typeface="Poppins" pitchFamily="34" charset="0"/>
                <a:ea typeface="Poppins" pitchFamily="34" charset="-122"/>
                <a:cs typeface="Poppins" pitchFamily="34" charset="-120"/>
              </a:rPr>
              <a:t>Weather &amp; Climate</a:t>
            </a:r>
            <a:endParaRPr lang="en-US" sz="10500" dirty="0"/>
          </a:p>
        </p:txBody>
      </p:sp>
      <p:pic>
        <p:nvPicPr>
          <p:cNvPr id="7" name="Image 3" descr="preencoded.png"/>
          <p:cNvPicPr>
            <a:picLocks noChangeAspect="1"/>
          </p:cNvPicPr>
          <p:nvPr/>
        </p:nvPicPr>
        <p:blipFill>
          <a:blip r:embed="rId6"/>
          <a:stretch>
            <a:fillRect/>
          </a:stretch>
        </p:blipFill>
        <p:spPr>
          <a:xfrm>
            <a:off x="1524000" y="8572500"/>
            <a:ext cx="15240000" cy="19050"/>
          </a:xfrm>
          <a:prstGeom prst="rect">
            <a:avLst/>
          </a:prstGeom>
        </p:spPr>
      </p:pic>
      <p:sp>
        <p:nvSpPr>
          <p:cNvPr id="8" name="Text 2"/>
          <p:cNvSpPr/>
          <p:nvPr/>
        </p:nvSpPr>
        <p:spPr>
          <a:xfrm>
            <a:off x="1524000" y="8858974"/>
            <a:ext cx="8572500" cy="942975"/>
          </a:xfrm>
          <a:prstGeom prst="rect">
            <a:avLst/>
          </a:prstGeom>
          <a:noFill/>
          <a:ln/>
        </p:spPr>
        <p:txBody>
          <a:bodyPr wrap="square" rtlCol="0" anchor="ctr">
            <a:spAutoFit/>
          </a:bodyPr>
          <a:lstStyle/>
          <a:p>
            <a:pPr marL="0" indent="0" algn="l">
              <a:buNone/>
            </a:pPr>
            <a:r>
              <a:rPr lang="en-US" sz="1650" dirty="0">
                <a:solidFill>
                  <a:schemeClr val="bg1">
                    <a:lumMod val="75000"/>
                  </a:schemeClr>
                </a:solidFill>
                <a:latin typeface="Inter" pitchFamily="34" charset="0"/>
                <a:ea typeface="Inter" pitchFamily="34" charset="-122"/>
                <a:cs typeface="Inter" pitchFamily="34" charset="-120"/>
              </a:rPr>
              <a:t>CREATED &amp; DESIGNED BY ABHISHEK </a:t>
            </a:r>
            <a:endParaRPr lang="en-US" sz="1650" dirty="0">
              <a:solidFill>
                <a:schemeClr val="bg1">
                  <a:lumMod val="75000"/>
                </a:schemeClr>
              </a:solidFill>
            </a:endParaRPr>
          </a:p>
          <a:p>
            <a:pPr marL="0" indent="0" algn="l">
              <a:buNone/>
            </a:pPr>
            <a:r>
              <a:rPr lang="en-US" sz="1650" dirty="0">
                <a:solidFill>
                  <a:schemeClr val="bg1">
                    <a:lumMod val="75000"/>
                  </a:schemeClr>
                </a:solidFill>
                <a:latin typeface="Inter" pitchFamily="34" charset="0"/>
                <a:ea typeface="Inter" pitchFamily="34" charset="-122"/>
                <a:cs typeface="Inter" pitchFamily="34" charset="-120"/>
              </a:rPr>
              <a:t>PRESENTERS—ABHISHEK, AYOUSH, KANISHK, SARTHAK, DHIAAN</a:t>
            </a:r>
            <a:endParaRPr lang="en-US" sz="1650" dirty="0">
              <a:solidFill>
                <a:schemeClr val="bg1">
                  <a:lumMod val="75000"/>
                </a:schemeClr>
              </a:solidFill>
            </a:endParaRPr>
          </a:p>
        </p:txBody>
      </p:sp>
    </p:spTree>
  </p:cSld>
  <p:transition spd="med" dur="900">
    <p:fade thruBlk="1"/>
  </p:transition>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1238250"/>
            <a:ext cx="14287500" cy="638175"/>
          </a:xfrm>
          <a:prstGeom prst="rect">
            <a:avLst/>
          </a:prstGeom>
          <a:noFill/>
          <a:ln/>
        </p:spPr>
        <p:txBody>
          <a:bodyPr wrap="square" rtlCol="0" anchor="ctr"/>
          <a:lstStyle/>
          <a:p>
            <a:pPr marL="0" indent="0" algn="l">
              <a:lnSpc>
                <a:spcPct val="105000"/>
              </a:lnSpc>
              <a:buNone/>
            </a:pPr>
            <a:r>
              <a:rPr lang="en-US" sz="4400" b="1" dirty="0">
                <a:solidFill>
                  <a:srgbClr val="0F172A"/>
                </a:solidFill>
                <a:latin typeface="Poppins" pitchFamily="34" charset="0"/>
                <a:ea typeface="Poppins" pitchFamily="34" charset="-122"/>
                <a:cs typeface="Poppins" pitchFamily="34" charset="-120"/>
              </a:rPr>
              <a:t>Weather &amp; Climate</a:t>
            </a:r>
            <a:endParaRPr lang="en-US" sz="4800" dirty="0"/>
          </a:p>
        </p:txBody>
      </p:sp>
      <p:sp>
        <p:nvSpPr>
          <p:cNvPr id="3" name="Text 1"/>
          <p:cNvSpPr/>
          <p:nvPr/>
        </p:nvSpPr>
        <p:spPr>
          <a:xfrm>
            <a:off x="1143000" y="2095500"/>
            <a:ext cx="15240000" cy="371475"/>
          </a:xfrm>
          <a:prstGeom prst="rect">
            <a:avLst/>
          </a:prstGeom>
          <a:noFill/>
          <a:ln/>
        </p:spPr>
        <p:txBody>
          <a:bodyPr wrap="square" rtlCol="0" anchor="ctr"/>
          <a:lstStyle/>
          <a:p>
            <a:pPr marL="0" indent="0" algn="l">
              <a:buNone/>
            </a:pPr>
            <a:r>
              <a:rPr lang="en-US" sz="1950" dirty="0">
                <a:solidFill>
                  <a:srgbClr val="475569"/>
                </a:solidFill>
                <a:latin typeface="Inter" pitchFamily="34" charset="0"/>
                <a:ea typeface="Inter" pitchFamily="34" charset="-122"/>
                <a:cs typeface="Inter" pitchFamily="34" charset="-120"/>
              </a:rPr>
              <a:t>How short-term weather is different from long-term climate.</a:t>
            </a:r>
            <a:endParaRPr lang="en-US" sz="1950" dirty="0"/>
          </a:p>
        </p:txBody>
      </p:sp>
      <p:pic>
        <p:nvPicPr>
          <p:cNvPr id="4" name="Image 0" descr="preencoded.png"/>
          <p:cNvPicPr>
            <a:picLocks noChangeAspect="1"/>
          </p:cNvPicPr>
          <p:nvPr/>
        </p:nvPicPr>
        <p:blipFill>
          <a:blip r:embed="rId3"/>
          <a:stretch>
            <a:fillRect/>
          </a:stretch>
        </p:blipFill>
        <p:spPr>
          <a:xfrm>
            <a:off x="1143000" y="3048000"/>
            <a:ext cx="7715250" cy="5715000"/>
          </a:xfrm>
          <a:prstGeom prst="rect">
            <a:avLst/>
          </a:prstGeom>
        </p:spPr>
      </p:pic>
      <p:sp>
        <p:nvSpPr>
          <p:cNvPr id="5" name="Text 2"/>
          <p:cNvSpPr/>
          <p:nvPr/>
        </p:nvSpPr>
        <p:spPr>
          <a:xfrm>
            <a:off x="1619250" y="3619500"/>
            <a:ext cx="5715000" cy="685800"/>
          </a:xfrm>
          <a:prstGeom prst="rect">
            <a:avLst/>
          </a:prstGeom>
          <a:noFill/>
          <a:ln/>
        </p:spPr>
        <p:txBody>
          <a:bodyPr wrap="square" rtlCol="0" anchor="ctr"/>
          <a:lstStyle/>
          <a:p>
            <a:pPr marL="0" indent="0" algn="l">
              <a:buNone/>
            </a:pPr>
            <a:r>
              <a:rPr lang="en-US" sz="3600" b="1" dirty="0">
                <a:solidFill>
                  <a:srgbClr val="0F172A"/>
                </a:solidFill>
                <a:latin typeface="Poppins" pitchFamily="34" charset="0"/>
                <a:ea typeface="Poppins" pitchFamily="34" charset="-122"/>
                <a:cs typeface="Poppins" pitchFamily="34" charset="-120"/>
              </a:rPr>
              <a:t>Weather</a:t>
            </a:r>
            <a:endParaRPr lang="en-US" sz="3600" dirty="0"/>
          </a:p>
        </p:txBody>
      </p:sp>
      <p:sp>
        <p:nvSpPr>
          <p:cNvPr id="6" name="Text 3"/>
          <p:cNvSpPr/>
          <p:nvPr/>
        </p:nvSpPr>
        <p:spPr>
          <a:xfrm>
            <a:off x="1619250" y="4381500"/>
            <a:ext cx="4762500" cy="285750"/>
          </a:xfrm>
          <a:prstGeom prst="rect">
            <a:avLst/>
          </a:prstGeom>
          <a:noFill/>
          <a:ln/>
        </p:spPr>
        <p:txBody>
          <a:bodyPr wrap="square" rtlCol="0" anchor="ctr"/>
          <a:lstStyle/>
          <a:p>
            <a:pPr marL="0" indent="0" algn="l">
              <a:buNone/>
            </a:pPr>
            <a:r>
              <a:rPr lang="en-US" sz="1500" b="1" dirty="0">
                <a:solidFill>
                  <a:srgbClr val="059669"/>
                </a:solidFill>
                <a:latin typeface="Inter" pitchFamily="34" charset="0"/>
                <a:ea typeface="Inter" pitchFamily="34" charset="-122"/>
                <a:cs typeface="Inter" pitchFamily="34" charset="-120"/>
              </a:rPr>
              <a:t>SHORT-TERM · LOCALIZED</a:t>
            </a:r>
            <a:endParaRPr lang="en-US" sz="1500" dirty="0"/>
          </a:p>
        </p:txBody>
      </p:sp>
      <p:sp>
        <p:nvSpPr>
          <p:cNvPr id="7" name="Text 4"/>
          <p:cNvSpPr/>
          <p:nvPr/>
        </p:nvSpPr>
        <p:spPr>
          <a:xfrm>
            <a:off x="1619250" y="5048250"/>
            <a:ext cx="6762750" cy="1857375"/>
          </a:xfrm>
          <a:prstGeom prst="rect">
            <a:avLst/>
          </a:prstGeom>
          <a:noFill/>
          <a:ln/>
        </p:spPr>
        <p:txBody>
          <a:bodyPr wrap="square" rtlCol="0" anchor="ctr"/>
          <a:lstStyle/>
          <a:p>
            <a:pPr marL="342900" indent="-342900" algn="l">
              <a:lnSpc>
                <a:spcPct val="150000"/>
              </a:lnSpc>
              <a:buSzPct val="100000"/>
              <a:buChar char="•"/>
            </a:pPr>
            <a:r>
              <a:rPr lang="en-US" sz="1950" dirty="0">
                <a:solidFill>
                  <a:srgbClr val="334155"/>
                </a:solidFill>
                <a:latin typeface="Inter" pitchFamily="34" charset="0"/>
                <a:ea typeface="Inter" pitchFamily="34" charset="-122"/>
                <a:cs typeface="Inter" pitchFamily="34" charset="-120"/>
              </a:rPr>
              <a:t>• Short term.</a:t>
            </a:r>
            <a:endParaRPr lang="en-US" sz="1950" dirty="0"/>
          </a:p>
          <a:p>
            <a:pPr marL="342900" indent="-342900" algn="l">
              <a:lnSpc>
                <a:spcPct val="150000"/>
              </a:lnSpc>
              <a:buSzPct val="100000"/>
              <a:buChar char="•"/>
            </a:pPr>
            <a:r>
              <a:rPr lang="en-US" sz="1950" dirty="0">
                <a:solidFill>
                  <a:srgbClr val="334155"/>
                </a:solidFill>
                <a:latin typeface="Inter" pitchFamily="34" charset="0"/>
                <a:ea typeface="Inter" pitchFamily="34" charset="-122"/>
                <a:cs typeface="Inter" pitchFamily="34" charset="-120"/>
              </a:rPr>
              <a:t>• Can change every day or even every hour.</a:t>
            </a:r>
            <a:endParaRPr lang="en-US" sz="1950" dirty="0"/>
          </a:p>
          <a:p>
            <a:pPr marL="342900" indent="-342900" algn="l">
              <a:lnSpc>
                <a:spcPct val="150000"/>
              </a:lnSpc>
              <a:buSzPct val="100000"/>
              <a:buChar char="•"/>
            </a:pPr>
            <a:r>
              <a:rPr lang="en-US" sz="1950" dirty="0">
                <a:solidFill>
                  <a:srgbClr val="334155"/>
                </a:solidFill>
                <a:latin typeface="Inter" pitchFamily="34" charset="0"/>
                <a:ea typeface="Inter" pitchFamily="34" charset="-122"/>
                <a:cs typeface="Inter" pitchFamily="34" charset="-120"/>
              </a:rPr>
              <a:t>• Includes rain, sunshine, wind, and clouds.</a:t>
            </a:r>
            <a:endParaRPr lang="en-US" sz="1950" dirty="0"/>
          </a:p>
          <a:p>
            <a:pPr marL="342900" indent="-342900" algn="l">
              <a:lnSpc>
                <a:spcPct val="150000"/>
              </a:lnSpc>
              <a:buSzPct val="100000"/>
              <a:buChar char="•"/>
            </a:pPr>
            <a:r>
              <a:rPr lang="en-US" sz="1950" dirty="0">
                <a:solidFill>
                  <a:srgbClr val="334155"/>
                </a:solidFill>
                <a:latin typeface="Inter" pitchFamily="34" charset="0"/>
                <a:ea typeface="Inter" pitchFamily="34" charset="-122"/>
                <a:cs typeface="Inter" pitchFamily="34" charset="-120"/>
              </a:rPr>
              <a:t>• Watched and measured all the time.</a:t>
            </a:r>
            <a:endParaRPr lang="en-US" sz="1950" dirty="0"/>
          </a:p>
        </p:txBody>
      </p:sp>
      <p:pic>
        <p:nvPicPr>
          <p:cNvPr id="8" name="Image 1" descr="preencoded.png"/>
          <p:cNvPicPr>
            <a:picLocks noChangeAspect="1"/>
          </p:cNvPicPr>
          <p:nvPr/>
        </p:nvPicPr>
        <p:blipFill>
          <a:blip r:embed="rId4"/>
          <a:stretch>
            <a:fillRect/>
          </a:stretch>
        </p:blipFill>
        <p:spPr>
          <a:xfrm>
            <a:off x="9429750" y="3047933"/>
            <a:ext cx="7715250" cy="5715000"/>
          </a:xfrm>
          <a:prstGeom prst="rect">
            <a:avLst/>
          </a:prstGeom>
        </p:spPr>
      </p:pic>
      <p:sp>
        <p:nvSpPr>
          <p:cNvPr id="9" name="Text 5"/>
          <p:cNvSpPr/>
          <p:nvPr/>
        </p:nvSpPr>
        <p:spPr>
          <a:xfrm>
            <a:off x="9906000" y="3619500"/>
            <a:ext cx="5715000" cy="685800"/>
          </a:xfrm>
          <a:prstGeom prst="rect">
            <a:avLst/>
          </a:prstGeom>
          <a:noFill/>
          <a:ln/>
        </p:spPr>
        <p:txBody>
          <a:bodyPr wrap="square" rtlCol="0" anchor="ctr"/>
          <a:lstStyle/>
          <a:p>
            <a:pPr marL="0" indent="0" algn="l">
              <a:buNone/>
            </a:pPr>
            <a:r>
              <a:rPr lang="en-US" sz="3600" b="1" dirty="0">
                <a:solidFill>
                  <a:srgbClr val="F8FAFC"/>
                </a:solidFill>
                <a:latin typeface="Poppins" pitchFamily="34" charset="0"/>
                <a:ea typeface="Poppins" pitchFamily="34" charset="-122"/>
                <a:cs typeface="Poppins" pitchFamily="34" charset="-120"/>
              </a:rPr>
              <a:t>Climate</a:t>
            </a:r>
            <a:endParaRPr lang="en-US" sz="3600" dirty="0"/>
          </a:p>
        </p:txBody>
      </p:sp>
      <p:sp>
        <p:nvSpPr>
          <p:cNvPr id="10" name="Text 6"/>
          <p:cNvSpPr/>
          <p:nvPr/>
        </p:nvSpPr>
        <p:spPr>
          <a:xfrm>
            <a:off x="9906000" y="4381500"/>
            <a:ext cx="4762500" cy="285750"/>
          </a:xfrm>
          <a:prstGeom prst="rect">
            <a:avLst/>
          </a:prstGeom>
          <a:noFill/>
          <a:ln/>
        </p:spPr>
        <p:txBody>
          <a:bodyPr wrap="square" rtlCol="0" anchor="ctr"/>
          <a:lstStyle/>
          <a:p>
            <a:pPr marL="0" indent="0" algn="l">
              <a:buNone/>
            </a:pPr>
            <a:r>
              <a:rPr lang="en-US" sz="1500" b="1" dirty="0">
                <a:solidFill>
                  <a:srgbClr val="34D399"/>
                </a:solidFill>
                <a:latin typeface="Inter" pitchFamily="34" charset="0"/>
                <a:ea typeface="Inter" pitchFamily="34" charset="-122"/>
                <a:cs typeface="Inter" pitchFamily="34" charset="-120"/>
              </a:rPr>
              <a:t>LONG-TERM · REGIONAL</a:t>
            </a:r>
            <a:endParaRPr lang="en-US" sz="1500" dirty="0"/>
          </a:p>
        </p:txBody>
      </p:sp>
      <p:sp>
        <p:nvSpPr>
          <p:cNvPr id="11" name="Text 7"/>
          <p:cNvSpPr/>
          <p:nvPr/>
        </p:nvSpPr>
        <p:spPr>
          <a:xfrm>
            <a:off x="9906762" y="5048250"/>
            <a:ext cx="6762750" cy="1857375"/>
          </a:xfrm>
          <a:prstGeom prst="rect">
            <a:avLst/>
          </a:prstGeom>
          <a:noFill/>
          <a:ln/>
        </p:spPr>
        <p:txBody>
          <a:bodyPr wrap="square" rtlCol="0" anchor="ctr"/>
          <a:lstStyle/>
          <a:p>
            <a:pPr marL="342900" indent="-342900" algn="l">
              <a:lnSpc>
                <a:spcPct val="150000"/>
              </a:lnSpc>
              <a:buSzPct val="100000"/>
              <a:buChar char="•"/>
            </a:pPr>
            <a:r>
              <a:rPr lang="en-US" sz="1950" dirty="0">
                <a:solidFill>
                  <a:srgbClr val="CBD5E1"/>
                </a:solidFill>
                <a:latin typeface="Inter" pitchFamily="34" charset="0"/>
                <a:ea typeface="Inter" pitchFamily="34" charset="-122"/>
                <a:cs typeface="Inter" pitchFamily="34" charset="-120"/>
              </a:rPr>
              <a:t>• Long term.</a:t>
            </a:r>
            <a:endParaRPr lang="en-US" sz="1950" dirty="0"/>
          </a:p>
          <a:p>
            <a:pPr marL="342900" indent="-342900" algn="l">
              <a:lnSpc>
                <a:spcPct val="150000"/>
              </a:lnSpc>
              <a:buSzPct val="100000"/>
              <a:buChar char="•"/>
            </a:pPr>
            <a:r>
              <a:rPr lang="en-US" sz="1950" dirty="0">
                <a:solidFill>
                  <a:srgbClr val="CBD5E1"/>
                </a:solidFill>
                <a:latin typeface="Inter" pitchFamily="34" charset="0"/>
                <a:ea typeface="Inter" pitchFamily="34" charset="-122"/>
                <a:cs typeface="Inter" pitchFamily="34" charset="-120"/>
              </a:rPr>
              <a:t>• Changes after a decade or a century</a:t>
            </a:r>
            <a:endParaRPr lang="en-US" sz="1950" dirty="0"/>
          </a:p>
          <a:p>
            <a:pPr marL="342900" indent="-342900" algn="l">
              <a:lnSpc>
                <a:spcPct val="150000"/>
              </a:lnSpc>
              <a:buSzPct val="100000"/>
              <a:buChar char="•"/>
            </a:pPr>
            <a:r>
              <a:rPr lang="en-US" sz="1950" dirty="0">
                <a:solidFill>
                  <a:srgbClr val="CBD5E1"/>
                </a:solidFill>
                <a:latin typeface="Inter" pitchFamily="34" charset="0"/>
                <a:ea typeface="Inter" pitchFamily="34" charset="-122"/>
                <a:cs typeface="Inter" pitchFamily="34" charset="-120"/>
              </a:rPr>
              <a:t>• Include desert or rainforest</a:t>
            </a:r>
            <a:endParaRPr lang="en-US" sz="1950" dirty="0"/>
          </a:p>
          <a:p>
            <a:pPr marL="342900" indent="-342900" algn="l">
              <a:lnSpc>
                <a:spcPct val="150000"/>
              </a:lnSpc>
              <a:buSzPct val="100000"/>
              <a:buChar char="•"/>
            </a:pPr>
            <a:r>
              <a:rPr lang="en-US" sz="1950" dirty="0">
                <a:solidFill>
                  <a:srgbClr val="CBD5E1"/>
                </a:solidFill>
                <a:latin typeface="Inter" pitchFamily="34" charset="0"/>
                <a:ea typeface="Inter" pitchFamily="34" charset="-122"/>
                <a:cs typeface="Inter" pitchFamily="34" charset="-120"/>
              </a:rPr>
              <a:t>• Shapes seasons, plants, and animals.</a:t>
            </a:r>
            <a:endParaRPr lang="en-US" sz="1950" dirty="0"/>
          </a:p>
        </p:txBody>
      </p:sp>
      <p:sp>
        <p:nvSpPr>
          <p:cNvPr id="12" name="TextBox 11"/>
          <p:cNvSpPr txBox="1"/>
          <p:nvPr/>
        </p:nvSpPr>
        <p:spPr>
          <a:xfrm>
            <a:off x="17282160" y="9784080"/>
            <a:ext cx="822960" cy="320040"/>
          </a:xfrm>
          <a:prstGeom prst="rect">
            <a:avLst/>
          </a:prstGeom>
          <a:noFill/>
        </p:spPr>
        <p:txBody>
          <a:bodyPr wrap="none">
            <a:spAutoFit/>
          </a:bodyPr>
          <a:lstStyle/>
          <a:p>
            <a:pPr algn="ctr"/>
            <a:r>
              <a:rPr sz="1200">
                <a:solidFill>
                  <a:srgbClr val="808080"/>
                </a:solidFill>
                <a:latin typeface="Inter"/>
              </a:rPr>
              <a:t>2 / 9</a:t>
            </a:r>
          </a:p>
        </p:txBody>
      </p:sp>
    </p:spTree>
  </p:cSld>
  <p:transition spd="med" dur="750">
    <p:fade thruBlk="0"/>
  </p:transition>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5F9"/>
        </a:solidFill>
        <a:effectLst/>
      </p:bgPr>
    </p:bg>
    <p:spTree>
      <p:nvGrpSpPr>
        <p:cNvPr id="1" name=""/>
        <p:cNvGrpSpPr/>
        <p:nvPr/>
      </p:nvGrpSpPr>
      <p:grpSpPr>
        <a:xfrm>
          <a:off x="0" y="0"/>
          <a:ext cx="0" cy="0"/>
          <a:chOff x="0" y="0"/>
          <a:chExt cx="0" cy="0"/>
        </a:xfrm>
      </p:grpSpPr>
      <p:sp>
        <p:nvSpPr>
          <p:cNvPr id="2" name="Text 0"/>
          <p:cNvSpPr/>
          <p:nvPr/>
        </p:nvSpPr>
        <p:spPr>
          <a:xfrm>
            <a:off x="1118302" y="709079"/>
            <a:ext cx="16002000" cy="800100"/>
          </a:xfrm>
          <a:prstGeom prst="rect">
            <a:avLst/>
          </a:prstGeom>
          <a:noFill/>
          <a:ln/>
        </p:spPr>
        <p:txBody>
          <a:bodyPr wrap="square" rtlCol="0" anchor="ctr"/>
          <a:lstStyle/>
          <a:p>
            <a:pPr marL="0" indent="0" algn="l">
              <a:buNone/>
            </a:pPr>
            <a:r>
              <a:rPr lang="en-US" sz="4400" b="1" dirty="0">
                <a:solidFill>
                  <a:srgbClr val="000000"/>
                </a:solidFill>
                <a:latin typeface="Poppins" pitchFamily="34" charset="0"/>
                <a:ea typeface="Poppins" pitchFamily="34" charset="-122"/>
                <a:cs typeface="Poppins" pitchFamily="34" charset="-120"/>
              </a:rPr>
              <a:t>Weather-Related/Climate Factors</a:t>
            </a:r>
            <a:endParaRPr lang="en-US" sz="4200" dirty="0"/>
          </a:p>
        </p:txBody>
      </p:sp>
      <p:sp>
        <p:nvSpPr>
          <p:cNvPr id="3" name="Text 1"/>
          <p:cNvSpPr/>
          <p:nvPr/>
        </p:nvSpPr>
        <p:spPr>
          <a:xfrm>
            <a:off x="9620250" y="3371850"/>
            <a:ext cx="762000" cy="428625"/>
          </a:xfrm>
          <a:prstGeom prst="rect">
            <a:avLst/>
          </a:prstGeom>
          <a:noFill/>
          <a:ln/>
        </p:spPr>
        <p:txBody>
          <a:bodyPr wrap="square" rtlCol="0" anchor="ctr"/>
          <a:lstStyle/>
          <a:p>
            <a:pPr marL="0" indent="0" algn="ctr">
              <a:buNone/>
            </a:pPr>
            <a:r>
              <a:rPr lang="en-US" sz="2250" b="1" dirty="0">
                <a:solidFill>
                  <a:srgbClr val="FFFFFF"/>
                </a:solidFill>
                <a:latin typeface="Poppins" pitchFamily="34" charset="0"/>
                <a:ea typeface="Poppins" pitchFamily="34" charset="-122"/>
                <a:cs typeface="Poppins" pitchFamily="34" charset="-120"/>
              </a:rPr>
              <a:t>03</a:t>
            </a:r>
            <a:endParaRPr lang="en-US" sz="2250" dirty="0"/>
          </a:p>
        </p:txBody>
      </p:sp>
      <p:pic>
        <p:nvPicPr>
          <p:cNvPr id="4" name="Image 0" descr="preencoded.png"/>
          <p:cNvPicPr>
            <a:picLocks noChangeAspect="1"/>
          </p:cNvPicPr>
          <p:nvPr/>
        </p:nvPicPr>
        <p:blipFill>
          <a:blip r:embed="rId3"/>
          <a:stretch>
            <a:fillRect/>
          </a:stretch>
        </p:blipFill>
        <p:spPr>
          <a:xfrm rot="-5400000">
            <a:off x="7572375" y="4314825"/>
            <a:ext cx="3143250" cy="28575"/>
          </a:xfrm>
          <a:prstGeom prst="rect">
            <a:avLst/>
          </a:prstGeom>
        </p:spPr>
      </p:pic>
      <p:pic>
        <p:nvPicPr>
          <p:cNvPr id="5" name="Image 1" descr="preencoded.png"/>
          <p:cNvPicPr>
            <a:picLocks noChangeAspect="1"/>
          </p:cNvPicPr>
          <p:nvPr/>
        </p:nvPicPr>
        <p:blipFill>
          <a:blip r:embed="rId3"/>
          <a:stretch>
            <a:fillRect/>
          </a:stretch>
        </p:blipFill>
        <p:spPr>
          <a:xfrm rot="-2340000">
            <a:off x="8801100" y="4905375"/>
            <a:ext cx="3143250" cy="28575"/>
          </a:xfrm>
          <a:prstGeom prst="rect">
            <a:avLst/>
          </a:prstGeom>
        </p:spPr>
      </p:pic>
      <p:pic>
        <p:nvPicPr>
          <p:cNvPr id="6" name="Image 2" descr="preencoded.png"/>
          <p:cNvPicPr>
            <a:picLocks noChangeAspect="1"/>
          </p:cNvPicPr>
          <p:nvPr/>
        </p:nvPicPr>
        <p:blipFill>
          <a:blip r:embed="rId3"/>
          <a:stretch>
            <a:fillRect/>
          </a:stretch>
        </p:blipFill>
        <p:spPr>
          <a:xfrm rot="780000">
            <a:off x="9105900" y="6238875"/>
            <a:ext cx="3143250" cy="28575"/>
          </a:xfrm>
          <a:prstGeom prst="rect">
            <a:avLst/>
          </a:prstGeom>
        </p:spPr>
      </p:pic>
      <p:pic>
        <p:nvPicPr>
          <p:cNvPr id="7" name="Image 3" descr="preencoded.png"/>
          <p:cNvPicPr>
            <a:picLocks noChangeAspect="1"/>
          </p:cNvPicPr>
          <p:nvPr/>
        </p:nvPicPr>
        <p:blipFill>
          <a:blip r:embed="rId3"/>
          <a:stretch>
            <a:fillRect/>
          </a:stretch>
        </p:blipFill>
        <p:spPr>
          <a:xfrm rot="3840000">
            <a:off x="8248650" y="7305675"/>
            <a:ext cx="3143250" cy="28575"/>
          </a:xfrm>
          <a:prstGeom prst="rect">
            <a:avLst/>
          </a:prstGeom>
        </p:spPr>
      </p:pic>
      <p:pic>
        <p:nvPicPr>
          <p:cNvPr id="8" name="Image 4" descr="preencoded.png"/>
          <p:cNvPicPr>
            <a:picLocks noChangeAspect="1"/>
          </p:cNvPicPr>
          <p:nvPr/>
        </p:nvPicPr>
        <p:blipFill>
          <a:blip r:embed="rId3"/>
          <a:stretch>
            <a:fillRect/>
          </a:stretch>
        </p:blipFill>
        <p:spPr>
          <a:xfrm rot="6960000">
            <a:off x="6886575" y="7305675"/>
            <a:ext cx="3143250" cy="28575"/>
          </a:xfrm>
          <a:prstGeom prst="rect">
            <a:avLst/>
          </a:prstGeom>
        </p:spPr>
      </p:pic>
      <p:pic>
        <p:nvPicPr>
          <p:cNvPr id="9" name="Image 5" descr="preencoded.png"/>
          <p:cNvPicPr>
            <a:picLocks noChangeAspect="1"/>
          </p:cNvPicPr>
          <p:nvPr/>
        </p:nvPicPr>
        <p:blipFill>
          <a:blip r:embed="rId3"/>
          <a:stretch>
            <a:fillRect/>
          </a:stretch>
        </p:blipFill>
        <p:spPr>
          <a:xfrm rot="10020000">
            <a:off x="6038850" y="6238875"/>
            <a:ext cx="3143250" cy="28575"/>
          </a:xfrm>
          <a:prstGeom prst="rect">
            <a:avLst/>
          </a:prstGeom>
        </p:spPr>
      </p:pic>
      <p:pic>
        <p:nvPicPr>
          <p:cNvPr id="10" name="Image 6" descr="preencoded.png"/>
          <p:cNvPicPr>
            <a:picLocks noChangeAspect="1"/>
          </p:cNvPicPr>
          <p:nvPr/>
        </p:nvPicPr>
        <p:blipFill>
          <a:blip r:embed="rId3"/>
          <a:stretch>
            <a:fillRect/>
          </a:stretch>
        </p:blipFill>
        <p:spPr>
          <a:xfrm rot="-8460000">
            <a:off x="6343650" y="4905375"/>
            <a:ext cx="3143250" cy="28575"/>
          </a:xfrm>
          <a:prstGeom prst="rect">
            <a:avLst/>
          </a:prstGeom>
        </p:spPr>
      </p:pic>
      <p:pic>
        <p:nvPicPr>
          <p:cNvPr id="11" name="Image 7" descr="preencoded.png"/>
          <p:cNvPicPr>
            <a:picLocks noChangeAspect="1"/>
          </p:cNvPicPr>
          <p:nvPr/>
        </p:nvPicPr>
        <p:blipFill>
          <a:blip r:embed="rId4"/>
          <a:stretch>
            <a:fillRect/>
          </a:stretch>
        </p:blipFill>
        <p:spPr>
          <a:xfrm>
            <a:off x="8096250" y="4857750"/>
            <a:ext cx="2095500" cy="2095500"/>
          </a:xfrm>
          <a:prstGeom prst="rect">
            <a:avLst/>
          </a:prstGeom>
        </p:spPr>
      </p:pic>
      <p:pic>
        <p:nvPicPr>
          <p:cNvPr id="12" name="Image 8" descr="preencoded.png"/>
          <p:cNvPicPr>
            <a:picLocks noChangeAspect="1"/>
          </p:cNvPicPr>
          <p:nvPr/>
        </p:nvPicPr>
        <p:blipFill>
          <a:blip r:embed="rId5"/>
          <a:stretch>
            <a:fillRect/>
          </a:stretch>
        </p:blipFill>
        <p:spPr>
          <a:xfrm>
            <a:off x="8362950" y="1981200"/>
            <a:ext cx="1562100" cy="1562100"/>
          </a:xfrm>
          <a:prstGeom prst="rect">
            <a:avLst/>
          </a:prstGeom>
        </p:spPr>
      </p:pic>
      <p:pic>
        <p:nvPicPr>
          <p:cNvPr id="13" name="Image 9" descr="preencoded.png"/>
          <p:cNvPicPr>
            <a:picLocks noChangeAspect="1"/>
          </p:cNvPicPr>
          <p:nvPr/>
        </p:nvPicPr>
        <p:blipFill>
          <a:blip r:embed="rId5"/>
          <a:stretch>
            <a:fillRect/>
          </a:stretch>
        </p:blipFill>
        <p:spPr>
          <a:xfrm>
            <a:off x="10820400" y="3162300"/>
            <a:ext cx="1562100" cy="1562100"/>
          </a:xfrm>
          <a:prstGeom prst="rect">
            <a:avLst/>
          </a:prstGeom>
        </p:spPr>
      </p:pic>
      <p:pic>
        <p:nvPicPr>
          <p:cNvPr id="14" name="Image 10" descr="preencoded.png"/>
          <p:cNvPicPr>
            <a:picLocks noChangeAspect="1"/>
          </p:cNvPicPr>
          <p:nvPr/>
        </p:nvPicPr>
        <p:blipFill>
          <a:blip r:embed="rId5"/>
          <a:stretch>
            <a:fillRect/>
          </a:stretch>
        </p:blipFill>
        <p:spPr>
          <a:xfrm>
            <a:off x="11430000" y="5819775"/>
            <a:ext cx="1562100" cy="1562100"/>
          </a:xfrm>
          <a:prstGeom prst="rect">
            <a:avLst/>
          </a:prstGeom>
        </p:spPr>
      </p:pic>
      <p:pic>
        <p:nvPicPr>
          <p:cNvPr id="15" name="Image 11" descr="preencoded.png"/>
          <p:cNvPicPr>
            <a:picLocks noChangeAspect="1"/>
          </p:cNvPicPr>
          <p:nvPr/>
        </p:nvPicPr>
        <p:blipFill>
          <a:blip r:embed="rId5"/>
          <a:stretch>
            <a:fillRect/>
          </a:stretch>
        </p:blipFill>
        <p:spPr>
          <a:xfrm>
            <a:off x="9725025" y="7953375"/>
            <a:ext cx="1562100" cy="1562100"/>
          </a:xfrm>
          <a:prstGeom prst="rect">
            <a:avLst/>
          </a:prstGeom>
        </p:spPr>
      </p:pic>
      <p:pic>
        <p:nvPicPr>
          <p:cNvPr id="16" name="Image 12" descr="preencoded.png"/>
          <p:cNvPicPr>
            <a:picLocks noChangeAspect="1"/>
          </p:cNvPicPr>
          <p:nvPr/>
        </p:nvPicPr>
        <p:blipFill>
          <a:blip r:embed="rId5"/>
          <a:stretch>
            <a:fillRect/>
          </a:stretch>
        </p:blipFill>
        <p:spPr>
          <a:xfrm>
            <a:off x="7000875" y="7953375"/>
            <a:ext cx="1562100" cy="1562100"/>
          </a:xfrm>
          <a:prstGeom prst="rect">
            <a:avLst/>
          </a:prstGeom>
        </p:spPr>
      </p:pic>
      <p:pic>
        <p:nvPicPr>
          <p:cNvPr id="17" name="Image 13" descr="preencoded.png"/>
          <p:cNvPicPr>
            <a:picLocks noChangeAspect="1"/>
          </p:cNvPicPr>
          <p:nvPr/>
        </p:nvPicPr>
        <p:blipFill>
          <a:blip r:embed="rId5"/>
          <a:stretch>
            <a:fillRect/>
          </a:stretch>
        </p:blipFill>
        <p:spPr>
          <a:xfrm>
            <a:off x="5295900" y="5819775"/>
            <a:ext cx="1562100" cy="1562100"/>
          </a:xfrm>
          <a:prstGeom prst="rect">
            <a:avLst/>
          </a:prstGeom>
        </p:spPr>
      </p:pic>
      <p:pic>
        <p:nvPicPr>
          <p:cNvPr id="18" name="Image 14" descr="preencoded.png"/>
          <p:cNvPicPr>
            <a:picLocks noChangeAspect="1"/>
          </p:cNvPicPr>
          <p:nvPr/>
        </p:nvPicPr>
        <p:blipFill>
          <a:blip r:embed="rId5"/>
          <a:stretch>
            <a:fillRect/>
          </a:stretch>
        </p:blipFill>
        <p:spPr>
          <a:xfrm>
            <a:off x="5905500" y="3162300"/>
            <a:ext cx="1562100" cy="1562100"/>
          </a:xfrm>
          <a:prstGeom prst="rect">
            <a:avLst/>
          </a:prstGeom>
        </p:spPr>
      </p:pic>
      <p:sp>
        <p:nvSpPr>
          <p:cNvPr id="19" name="Text 2"/>
          <p:cNvSpPr/>
          <p:nvPr/>
        </p:nvSpPr>
        <p:spPr>
          <a:xfrm>
            <a:off x="8210550" y="5410200"/>
            <a:ext cx="1866900" cy="752475"/>
          </a:xfrm>
          <a:prstGeom prst="rect">
            <a:avLst/>
          </a:prstGeom>
          <a:noFill/>
          <a:ln/>
        </p:spPr>
        <p:txBody>
          <a:bodyPr wrap="square" rtlCol="0" anchor="ctr"/>
          <a:lstStyle/>
          <a:p>
            <a:pPr marL="0" indent="0" algn="ctr">
              <a:lnSpc>
                <a:spcPct val="115000"/>
              </a:lnSpc>
              <a:buNone/>
            </a:pPr>
            <a:r>
              <a:rPr lang="en-US" sz="1725" b="1" dirty="0">
                <a:solidFill>
                  <a:srgbClr val="FFFFFF"/>
                </a:solidFill>
                <a:latin typeface="Poppins" pitchFamily="34" charset="0"/>
                <a:ea typeface="Poppins" pitchFamily="34" charset="-122"/>
                <a:cs typeface="Poppins" pitchFamily="34" charset="-120"/>
              </a:rPr>
              <a:t>Weather-related / Climatic Factors</a:t>
            </a:r>
            <a:endParaRPr lang="en-US" sz="1725" dirty="0"/>
          </a:p>
        </p:txBody>
      </p:sp>
      <p:sp>
        <p:nvSpPr>
          <p:cNvPr id="20" name="Text 3"/>
          <p:cNvSpPr/>
          <p:nvPr/>
        </p:nvSpPr>
        <p:spPr>
          <a:xfrm>
            <a:off x="8429625" y="2552700"/>
            <a:ext cx="1428750" cy="419100"/>
          </a:xfrm>
          <a:prstGeom prst="rect">
            <a:avLst/>
          </a:prstGeom>
          <a:noFill/>
          <a:ln/>
        </p:spPr>
        <p:txBody>
          <a:bodyPr wrap="square" rtlCol="0" anchor="ctr"/>
          <a:lstStyle/>
          <a:p>
            <a:pPr marL="0" indent="0" algn="ctr">
              <a:lnSpc>
                <a:spcPct val="115000"/>
              </a:lnSpc>
              <a:buNone/>
            </a:pPr>
            <a:r>
              <a:rPr lang="en-US" sz="1425" b="1" dirty="0">
                <a:solidFill>
                  <a:srgbClr val="475569"/>
                </a:solidFill>
                <a:latin typeface="Poppins" pitchFamily="34" charset="0"/>
                <a:ea typeface="Poppins" pitchFamily="34" charset="-122"/>
                <a:cs typeface="Poppins" pitchFamily="34" charset="-120"/>
              </a:rPr>
              <a:t>Atmospheric Pressure</a:t>
            </a:r>
            <a:endParaRPr lang="en-US" sz="1425" dirty="0"/>
          </a:p>
        </p:txBody>
      </p:sp>
      <p:sp>
        <p:nvSpPr>
          <p:cNvPr id="21" name="Text 4"/>
          <p:cNvSpPr/>
          <p:nvPr/>
        </p:nvSpPr>
        <p:spPr>
          <a:xfrm>
            <a:off x="10887075" y="3810000"/>
            <a:ext cx="1428750" cy="219075"/>
          </a:xfrm>
          <a:prstGeom prst="rect">
            <a:avLst/>
          </a:prstGeom>
          <a:noFill/>
          <a:ln/>
        </p:spPr>
        <p:txBody>
          <a:bodyPr wrap="square" rtlCol="0" anchor="ctr"/>
          <a:lstStyle/>
          <a:p>
            <a:pPr marL="0" indent="0" algn="ctr">
              <a:lnSpc>
                <a:spcPct val="115000"/>
              </a:lnSpc>
              <a:buNone/>
            </a:pPr>
            <a:r>
              <a:rPr lang="en-US" sz="1500" b="1" dirty="0">
                <a:solidFill>
                  <a:srgbClr val="475569"/>
                </a:solidFill>
                <a:latin typeface="Poppins" pitchFamily="34" charset="0"/>
                <a:ea typeface="Poppins" pitchFamily="34" charset="-122"/>
                <a:cs typeface="Poppins" pitchFamily="34" charset="-120"/>
              </a:rPr>
              <a:t>Sunlight</a:t>
            </a:r>
            <a:endParaRPr lang="en-US" sz="1500" dirty="0"/>
          </a:p>
        </p:txBody>
      </p:sp>
      <p:sp>
        <p:nvSpPr>
          <p:cNvPr id="22" name="Text 5"/>
          <p:cNvSpPr/>
          <p:nvPr/>
        </p:nvSpPr>
        <p:spPr>
          <a:xfrm>
            <a:off x="11496675" y="6467475"/>
            <a:ext cx="1428750" cy="219075"/>
          </a:xfrm>
          <a:prstGeom prst="rect">
            <a:avLst/>
          </a:prstGeom>
          <a:noFill/>
          <a:ln/>
        </p:spPr>
        <p:txBody>
          <a:bodyPr wrap="square" rtlCol="0" anchor="ctr"/>
          <a:lstStyle/>
          <a:p>
            <a:pPr marL="0" indent="0" algn="ctr">
              <a:lnSpc>
                <a:spcPct val="115000"/>
              </a:lnSpc>
              <a:buNone/>
            </a:pPr>
            <a:r>
              <a:rPr lang="en-US" sz="1500" b="1" dirty="0">
                <a:solidFill>
                  <a:srgbClr val="475569"/>
                </a:solidFill>
                <a:latin typeface="Poppins" pitchFamily="34" charset="0"/>
                <a:ea typeface="Poppins" pitchFamily="34" charset="-122"/>
                <a:cs typeface="Poppins" pitchFamily="34" charset="-120"/>
              </a:rPr>
              <a:t>Clouds</a:t>
            </a:r>
            <a:endParaRPr lang="en-US" sz="1500" dirty="0"/>
          </a:p>
        </p:txBody>
      </p:sp>
      <p:sp>
        <p:nvSpPr>
          <p:cNvPr id="23" name="Text 6"/>
          <p:cNvSpPr/>
          <p:nvPr/>
        </p:nvSpPr>
        <p:spPr>
          <a:xfrm>
            <a:off x="9791700" y="8601075"/>
            <a:ext cx="1428750" cy="219075"/>
          </a:xfrm>
          <a:prstGeom prst="rect">
            <a:avLst/>
          </a:prstGeom>
          <a:noFill/>
          <a:ln/>
        </p:spPr>
        <p:txBody>
          <a:bodyPr wrap="square" rtlCol="0" anchor="ctr"/>
          <a:lstStyle/>
          <a:p>
            <a:pPr marL="0" indent="0" algn="ctr">
              <a:lnSpc>
                <a:spcPct val="115000"/>
              </a:lnSpc>
              <a:buNone/>
            </a:pPr>
            <a:r>
              <a:rPr lang="en-US" sz="1500" b="1" dirty="0">
                <a:solidFill>
                  <a:srgbClr val="475569"/>
                </a:solidFill>
                <a:latin typeface="Poppins" pitchFamily="34" charset="0"/>
                <a:ea typeface="Poppins" pitchFamily="34" charset="-122"/>
                <a:cs typeface="Poppins" pitchFamily="34" charset="-120"/>
              </a:rPr>
              <a:t>Visibility</a:t>
            </a:r>
            <a:endParaRPr lang="en-US" sz="1500" dirty="0"/>
          </a:p>
        </p:txBody>
      </p:sp>
      <p:sp>
        <p:nvSpPr>
          <p:cNvPr id="24" name="Text 7"/>
          <p:cNvSpPr/>
          <p:nvPr/>
        </p:nvSpPr>
        <p:spPr>
          <a:xfrm>
            <a:off x="7067550" y="8601075"/>
            <a:ext cx="1428750" cy="219075"/>
          </a:xfrm>
          <a:prstGeom prst="rect">
            <a:avLst/>
          </a:prstGeom>
          <a:noFill/>
          <a:ln/>
        </p:spPr>
        <p:txBody>
          <a:bodyPr wrap="square" rtlCol="0" anchor="ctr"/>
          <a:lstStyle/>
          <a:p>
            <a:pPr marL="0" indent="0" algn="ctr">
              <a:lnSpc>
                <a:spcPct val="115000"/>
              </a:lnSpc>
              <a:buNone/>
            </a:pPr>
            <a:r>
              <a:rPr lang="en-US" sz="1500" b="1" dirty="0">
                <a:solidFill>
                  <a:srgbClr val="475569"/>
                </a:solidFill>
                <a:latin typeface="Poppins" pitchFamily="34" charset="0"/>
                <a:ea typeface="Poppins" pitchFamily="34" charset="-122"/>
                <a:cs typeface="Poppins" pitchFamily="34" charset="-120"/>
              </a:rPr>
              <a:t>Temperature</a:t>
            </a:r>
            <a:endParaRPr lang="en-US" sz="1500" dirty="0"/>
          </a:p>
        </p:txBody>
      </p:sp>
      <p:sp>
        <p:nvSpPr>
          <p:cNvPr id="25" name="Text 8"/>
          <p:cNvSpPr/>
          <p:nvPr/>
        </p:nvSpPr>
        <p:spPr>
          <a:xfrm>
            <a:off x="5362575" y="6467475"/>
            <a:ext cx="1428750" cy="219075"/>
          </a:xfrm>
          <a:prstGeom prst="rect">
            <a:avLst/>
          </a:prstGeom>
          <a:noFill/>
          <a:ln/>
        </p:spPr>
        <p:txBody>
          <a:bodyPr wrap="square" rtlCol="0" anchor="ctr"/>
          <a:lstStyle/>
          <a:p>
            <a:pPr marL="0" indent="0" algn="ctr">
              <a:lnSpc>
                <a:spcPct val="115000"/>
              </a:lnSpc>
              <a:buNone/>
            </a:pPr>
            <a:r>
              <a:rPr lang="en-US" sz="1500" b="1" dirty="0">
                <a:solidFill>
                  <a:srgbClr val="475569"/>
                </a:solidFill>
                <a:latin typeface="Poppins" pitchFamily="34" charset="0"/>
                <a:ea typeface="Poppins" pitchFamily="34" charset="-122"/>
                <a:cs typeface="Poppins" pitchFamily="34" charset="-120"/>
              </a:rPr>
              <a:t>Rainfall</a:t>
            </a:r>
            <a:endParaRPr lang="en-US" sz="1500" dirty="0"/>
          </a:p>
        </p:txBody>
      </p:sp>
      <p:sp>
        <p:nvSpPr>
          <p:cNvPr id="26" name="Text 9"/>
          <p:cNvSpPr/>
          <p:nvPr/>
        </p:nvSpPr>
        <p:spPr>
          <a:xfrm>
            <a:off x="5972175" y="3810000"/>
            <a:ext cx="1428750" cy="219075"/>
          </a:xfrm>
          <a:prstGeom prst="rect">
            <a:avLst/>
          </a:prstGeom>
          <a:noFill/>
          <a:ln/>
        </p:spPr>
        <p:txBody>
          <a:bodyPr wrap="square" rtlCol="0" anchor="ctr"/>
          <a:lstStyle/>
          <a:p>
            <a:pPr marL="0" indent="0" algn="ctr">
              <a:lnSpc>
                <a:spcPct val="115000"/>
              </a:lnSpc>
              <a:buNone/>
            </a:pPr>
            <a:r>
              <a:rPr lang="en-US" sz="1500" b="1" dirty="0">
                <a:solidFill>
                  <a:srgbClr val="475569"/>
                </a:solidFill>
                <a:latin typeface="Poppins" pitchFamily="34" charset="0"/>
                <a:ea typeface="Poppins" pitchFamily="34" charset="-122"/>
                <a:cs typeface="Poppins" pitchFamily="34" charset="-120"/>
              </a:rPr>
              <a:t>Humidity</a:t>
            </a:r>
            <a:endParaRPr lang="en-US" sz="1500" dirty="0"/>
          </a:p>
        </p:txBody>
      </p:sp>
      <p:sp>
        <p:nvSpPr>
          <p:cNvPr id="27" name="TextBox 26"/>
          <p:cNvSpPr txBox="1"/>
          <p:nvPr/>
        </p:nvSpPr>
        <p:spPr>
          <a:xfrm>
            <a:off x="17282160" y="9784080"/>
            <a:ext cx="822960" cy="320040"/>
          </a:xfrm>
          <a:prstGeom prst="rect">
            <a:avLst/>
          </a:prstGeom>
          <a:noFill/>
        </p:spPr>
        <p:txBody>
          <a:bodyPr wrap="none">
            <a:spAutoFit/>
          </a:bodyPr>
          <a:lstStyle/>
          <a:p>
            <a:pPr algn="ctr"/>
            <a:r>
              <a:rPr sz="1200">
                <a:solidFill>
                  <a:srgbClr val="808080"/>
                </a:solidFill>
                <a:latin typeface="Inter"/>
              </a:rPr>
              <a:t>3 / 9</a:t>
            </a:r>
          </a:p>
        </p:txBody>
      </p:sp>
    </p:spTree>
  </p:cSld>
  <p:transition spd="med" dur="750">
    <p:fade thruBlk="0"/>
  </p:transition>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115300" y="0"/>
            <a:ext cx="3810000" cy="10287000"/>
          </a:xfrm>
          <a:prstGeom prst="rect">
            <a:avLst/>
          </a:prstGeom>
        </p:spPr>
      </p:pic>
      <p:sp>
        <p:nvSpPr>
          <p:cNvPr id="3" name="Text 0"/>
          <p:cNvSpPr/>
          <p:nvPr/>
        </p:nvSpPr>
        <p:spPr>
          <a:xfrm>
            <a:off x="1143191" y="1495425"/>
            <a:ext cx="7429500" cy="1924050"/>
          </a:xfrm>
          <a:prstGeom prst="rect">
            <a:avLst/>
          </a:prstGeom>
          <a:noFill/>
          <a:ln/>
        </p:spPr>
        <p:txBody>
          <a:bodyPr wrap="square" rtlCol="0" anchor="ctr"/>
          <a:lstStyle/>
          <a:p>
            <a:pPr marL="0" indent="0" algn="l">
              <a:lnSpc>
                <a:spcPct val="102000"/>
              </a:lnSpc>
              <a:buNone/>
            </a:pPr>
            <a:r>
              <a:rPr lang="en-US" sz="4400" b="1" dirty="0">
                <a:solidFill>
                  <a:srgbClr val="F8FAFC"/>
                </a:solidFill>
                <a:latin typeface="Poppins" pitchFamily="34" charset="0"/>
                <a:ea typeface="Poppins" pitchFamily="34" charset="-122"/>
                <a:cs typeface="Poppins" pitchFamily="34" charset="-120"/>
              </a:rPr>
              <a:t>IMPORTANCE OF WEATHER IN THE LIVING WORLD</a:t>
            </a:r>
            <a:endParaRPr lang="en-US" sz="4950" dirty="0"/>
          </a:p>
        </p:txBody>
      </p:sp>
      <p:sp>
        <p:nvSpPr>
          <p:cNvPr id="4" name="Text 1"/>
          <p:cNvSpPr/>
          <p:nvPr/>
        </p:nvSpPr>
        <p:spPr>
          <a:xfrm>
            <a:off x="1143000" y="3714750"/>
            <a:ext cx="7239000" cy="666750"/>
          </a:xfrm>
          <a:prstGeom prst="rect">
            <a:avLst/>
          </a:prstGeom>
          <a:noFill/>
          <a:ln/>
        </p:spPr>
        <p:txBody>
          <a:bodyPr wrap="square" rtlCol="0" anchor="ctr"/>
          <a:lstStyle/>
          <a:p>
            <a:pPr marL="0" indent="0" algn="l">
              <a:lnSpc>
                <a:spcPct val="135000"/>
              </a:lnSpc>
              <a:buNone/>
            </a:pPr>
            <a:r>
              <a:rPr lang="en-US" sz="1950" dirty="0">
                <a:solidFill>
                  <a:srgbClr val="E2E8F0"/>
                </a:solidFill>
                <a:latin typeface="Inter" pitchFamily="34" charset="0"/>
                <a:ea typeface="Inter" pitchFamily="34" charset="-122"/>
                <a:cs typeface="Inter" pitchFamily="34" charset="-120"/>
              </a:rPr>
              <a:t>Daily weather as also long-term climatic conditions influence human lifestyle directly or indirectly</a:t>
            </a:r>
            <a:endParaRPr lang="en-US" sz="1950" dirty="0"/>
          </a:p>
        </p:txBody>
      </p:sp>
      <p:pic>
        <p:nvPicPr>
          <p:cNvPr id="5" name="Image 1" descr="preencoded.png"/>
          <p:cNvPicPr>
            <a:picLocks noChangeAspect="1"/>
          </p:cNvPicPr>
          <p:nvPr/>
        </p:nvPicPr>
        <p:blipFill>
          <a:blip r:embed="rId4"/>
          <a:stretch>
            <a:fillRect/>
          </a:stretch>
        </p:blipFill>
        <p:spPr>
          <a:xfrm>
            <a:off x="1143000" y="4953000"/>
            <a:ext cx="76200" cy="857250"/>
          </a:xfrm>
          <a:prstGeom prst="rect">
            <a:avLst/>
          </a:prstGeom>
        </p:spPr>
      </p:pic>
      <p:sp>
        <p:nvSpPr>
          <p:cNvPr id="6" name="Text 2"/>
          <p:cNvSpPr/>
          <p:nvPr/>
        </p:nvSpPr>
        <p:spPr>
          <a:xfrm>
            <a:off x="1524000" y="4905375"/>
            <a:ext cx="6191250" cy="428625"/>
          </a:xfrm>
          <a:prstGeom prst="rect">
            <a:avLst/>
          </a:prstGeom>
          <a:noFill/>
          <a:ln/>
        </p:spPr>
        <p:txBody>
          <a:bodyPr wrap="square" rtlCol="0" anchor="ctr"/>
          <a:lstStyle/>
          <a:p>
            <a:pPr marL="0" indent="0" algn="l">
              <a:buNone/>
            </a:pPr>
            <a:r>
              <a:rPr lang="en-US" sz="2250" b="1" dirty="0">
                <a:solidFill>
                  <a:srgbClr val="34D399"/>
                </a:solidFill>
                <a:latin typeface="Poppins" pitchFamily="34" charset="0"/>
                <a:ea typeface="Poppins" pitchFamily="34" charset="-122"/>
                <a:cs typeface="Poppins" pitchFamily="34" charset="-120"/>
              </a:rPr>
              <a:t>Basic Requirements</a:t>
            </a:r>
            <a:endParaRPr lang="en-US" sz="2250" dirty="0"/>
          </a:p>
        </p:txBody>
      </p:sp>
      <p:sp>
        <p:nvSpPr>
          <p:cNvPr id="7" name="Text 3"/>
          <p:cNvSpPr/>
          <p:nvPr/>
        </p:nvSpPr>
        <p:spPr>
          <a:xfrm>
            <a:off x="1524000" y="5314950"/>
            <a:ext cx="6286500" cy="638175"/>
          </a:xfrm>
          <a:prstGeom prst="rect">
            <a:avLst/>
          </a:prstGeom>
          <a:noFill/>
          <a:ln/>
        </p:spPr>
        <p:txBody>
          <a:bodyPr wrap="square" rtlCol="0" anchor="ctr"/>
          <a:lstStyle/>
          <a:p>
            <a:pPr marL="0" indent="0" algn="l">
              <a:lnSpc>
                <a:spcPct val="140000"/>
              </a:lnSpc>
              <a:buNone/>
            </a:pPr>
            <a:r>
              <a:rPr lang="en-US" sz="1800" dirty="0">
                <a:solidFill>
                  <a:srgbClr val="E2E8F0"/>
                </a:solidFill>
                <a:latin typeface="Inter" pitchFamily="34" charset="0"/>
                <a:ea typeface="Inter" pitchFamily="34" charset="-122"/>
                <a:cs typeface="Inter" pitchFamily="34" charset="-120"/>
              </a:rPr>
              <a:t>Weather affects what people wear, what they eat, and where they choose to live.</a:t>
            </a:r>
            <a:endParaRPr lang="en-US" sz="1800" dirty="0"/>
          </a:p>
        </p:txBody>
      </p:sp>
      <p:pic>
        <p:nvPicPr>
          <p:cNvPr id="8" name="Image 2" descr="preencoded.png"/>
          <p:cNvPicPr>
            <a:picLocks noChangeAspect="1"/>
          </p:cNvPicPr>
          <p:nvPr/>
        </p:nvPicPr>
        <p:blipFill>
          <a:blip r:embed="rId4"/>
          <a:stretch>
            <a:fillRect/>
          </a:stretch>
        </p:blipFill>
        <p:spPr>
          <a:xfrm>
            <a:off x="1143000" y="6858000"/>
            <a:ext cx="76200" cy="857250"/>
          </a:xfrm>
          <a:prstGeom prst="rect">
            <a:avLst/>
          </a:prstGeom>
        </p:spPr>
      </p:pic>
      <p:sp>
        <p:nvSpPr>
          <p:cNvPr id="9" name="Text 4"/>
          <p:cNvSpPr/>
          <p:nvPr/>
        </p:nvSpPr>
        <p:spPr>
          <a:xfrm>
            <a:off x="1523133" y="6791354"/>
            <a:ext cx="6191250" cy="428625"/>
          </a:xfrm>
          <a:prstGeom prst="rect">
            <a:avLst/>
          </a:prstGeom>
          <a:noFill/>
          <a:ln/>
        </p:spPr>
        <p:txBody>
          <a:bodyPr wrap="square" rtlCol="0" anchor="ctr"/>
          <a:lstStyle/>
          <a:p>
            <a:pPr marL="0" indent="0" algn="l">
              <a:buNone/>
            </a:pPr>
            <a:r>
              <a:rPr lang="en-US" sz="2250" b="1" dirty="0">
                <a:solidFill>
                  <a:srgbClr val="34D399"/>
                </a:solidFill>
                <a:latin typeface="Poppins" pitchFamily="34" charset="0"/>
                <a:ea typeface="Poppins" pitchFamily="34" charset="-122"/>
                <a:cs typeface="Poppins" pitchFamily="34" charset="-120"/>
              </a:rPr>
              <a:t>Civil Engineering</a:t>
            </a:r>
            <a:endParaRPr lang="en-US" sz="2250" dirty="0"/>
          </a:p>
        </p:txBody>
      </p:sp>
      <p:sp>
        <p:nvSpPr>
          <p:cNvPr id="10" name="Text 5"/>
          <p:cNvSpPr/>
          <p:nvPr/>
        </p:nvSpPr>
        <p:spPr>
          <a:xfrm>
            <a:off x="1524000" y="7219950"/>
            <a:ext cx="6286500" cy="638175"/>
          </a:xfrm>
          <a:prstGeom prst="rect">
            <a:avLst/>
          </a:prstGeom>
          <a:noFill/>
          <a:ln/>
        </p:spPr>
        <p:txBody>
          <a:bodyPr wrap="square" rtlCol="0" anchor="ctr"/>
          <a:lstStyle/>
          <a:p>
            <a:pPr marL="0" indent="0" algn="l">
              <a:lnSpc>
                <a:spcPct val="140000"/>
              </a:lnSpc>
              <a:buNone/>
            </a:pPr>
            <a:r>
              <a:rPr lang="en-US" sz="1800" dirty="0">
                <a:solidFill>
                  <a:srgbClr val="E2E8F0"/>
                </a:solidFill>
                <a:latin typeface="Inter" pitchFamily="34" charset="0"/>
                <a:ea typeface="Inter" pitchFamily="34" charset="-122"/>
                <a:cs typeface="Inter" pitchFamily="34" charset="-120"/>
              </a:rPr>
              <a:t>Engineers design buildings, bridges, and airports to stand up to wind and weather.</a:t>
            </a:r>
            <a:endParaRPr lang="en-US" sz="1800" dirty="0"/>
          </a:p>
        </p:txBody>
      </p:sp>
      <p:sp>
        <p:nvSpPr>
          <p:cNvPr id="11" name="TextBox 10"/>
          <p:cNvSpPr txBox="1"/>
          <p:nvPr/>
        </p:nvSpPr>
        <p:spPr>
          <a:xfrm>
            <a:off x="17282160" y="9784080"/>
            <a:ext cx="822960" cy="320040"/>
          </a:xfrm>
          <a:prstGeom prst="rect">
            <a:avLst/>
          </a:prstGeom>
          <a:noFill/>
        </p:spPr>
        <p:txBody>
          <a:bodyPr wrap="none">
            <a:spAutoFit/>
          </a:bodyPr>
          <a:lstStyle/>
          <a:p>
            <a:pPr algn="ctr"/>
            <a:r>
              <a:rPr sz="1200">
                <a:solidFill>
                  <a:srgbClr val="808080"/>
                </a:solidFill>
                <a:latin typeface="Inter"/>
              </a:rPr>
              <a:t>4 / 9</a:t>
            </a:r>
          </a:p>
        </p:txBody>
      </p:sp>
    </p:spTree>
  </p:cSld>
  <p:transition spd="med" dur="750">
    <p:fade thruBlk="0"/>
  </p:transition>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191" y="723900"/>
            <a:ext cx="16002000" cy="800100"/>
          </a:xfrm>
          <a:prstGeom prst="rect">
            <a:avLst/>
          </a:prstGeom>
          <a:noFill/>
          <a:ln/>
        </p:spPr>
        <p:txBody>
          <a:bodyPr wrap="square" rtlCol="0" anchor="ctr"/>
          <a:lstStyle/>
          <a:p>
            <a:pPr marL="0" indent="0" algn="l">
              <a:buNone/>
            </a:pPr>
            <a:r>
              <a:rPr lang="en-US" sz="4400" b="1" dirty="0">
                <a:solidFill>
                  <a:srgbClr val="0F172A"/>
                </a:solidFill>
                <a:latin typeface="Poppins" pitchFamily="34" charset="0"/>
                <a:ea typeface="Poppins" pitchFamily="34" charset="-122"/>
                <a:cs typeface="Poppins" pitchFamily="34" charset="-120"/>
              </a:rPr>
              <a:t>Climate &amp; Regional Adaptation</a:t>
            </a:r>
            <a:endParaRPr lang="en-US" sz="4200" dirty="0"/>
          </a:p>
        </p:txBody>
      </p:sp>
      <p:sp>
        <p:nvSpPr>
          <p:cNvPr id="3" name="Text 1"/>
          <p:cNvSpPr/>
          <p:nvPr/>
        </p:nvSpPr>
        <p:spPr>
          <a:xfrm>
            <a:off x="1143191" y="1653302"/>
            <a:ext cx="16002000" cy="342900"/>
          </a:xfrm>
          <a:prstGeom prst="rect">
            <a:avLst/>
          </a:prstGeom>
          <a:noFill/>
          <a:ln/>
        </p:spPr>
        <p:txBody>
          <a:bodyPr wrap="square" rtlCol="0" anchor="ctr"/>
          <a:lstStyle/>
          <a:p>
            <a:pPr marL="0" indent="0" algn="l">
              <a:buNone/>
            </a:pPr>
            <a:r>
              <a:rPr lang="en-US" sz="1800" dirty="0">
                <a:solidFill>
                  <a:srgbClr val="475569"/>
                </a:solidFill>
                <a:latin typeface="Inter" pitchFamily="34" charset="0"/>
                <a:ea typeface="Inter" pitchFamily="34" charset="-122"/>
                <a:cs typeface="Inter" pitchFamily="34" charset="-120"/>
              </a:rPr>
              <a:t>The relationship between climatic factors and regional environmental adaptations.</a:t>
            </a:r>
            <a:endParaRPr lang="en-US" sz="1800" dirty="0"/>
          </a:p>
        </p:txBody>
      </p:sp>
      <p:pic>
        <p:nvPicPr>
          <p:cNvPr id="4" name="Image 0" descr="preencoded.png"/>
          <p:cNvPicPr>
            <a:picLocks noChangeAspect="1"/>
          </p:cNvPicPr>
          <p:nvPr/>
        </p:nvPicPr>
        <p:blipFill>
          <a:blip r:embed="rId3"/>
          <a:stretch>
            <a:fillRect/>
          </a:stretch>
        </p:blipFill>
        <p:spPr>
          <a:xfrm>
            <a:off x="1143000" y="2857500"/>
            <a:ext cx="5334000" cy="2857500"/>
          </a:xfrm>
          <a:prstGeom prst="rect">
            <a:avLst/>
          </a:prstGeom>
        </p:spPr>
      </p:pic>
      <p:pic>
        <p:nvPicPr>
          <p:cNvPr id="5" name="Image 1" descr="preencoded.png"/>
          <p:cNvPicPr>
            <a:picLocks noChangeAspect="1"/>
          </p:cNvPicPr>
          <p:nvPr/>
        </p:nvPicPr>
        <p:blipFill>
          <a:blip r:embed="rId4"/>
          <a:stretch>
            <a:fillRect/>
          </a:stretch>
        </p:blipFill>
        <p:spPr>
          <a:xfrm>
            <a:off x="1143000" y="5905500"/>
            <a:ext cx="5334000" cy="2857500"/>
          </a:xfrm>
          <a:prstGeom prst="rect">
            <a:avLst/>
          </a:prstGeom>
        </p:spPr>
      </p:pic>
      <p:pic>
        <p:nvPicPr>
          <p:cNvPr id="6" name="Image 2" descr="preencoded.png"/>
          <p:cNvPicPr>
            <a:picLocks noChangeAspect="1"/>
          </p:cNvPicPr>
          <p:nvPr/>
        </p:nvPicPr>
        <p:blipFill>
          <a:blip r:embed="rId5"/>
          <a:stretch>
            <a:fillRect/>
          </a:stretch>
        </p:blipFill>
        <p:spPr>
          <a:xfrm>
            <a:off x="6953250" y="2857500"/>
            <a:ext cx="10191750" cy="2762250"/>
          </a:xfrm>
          <a:prstGeom prst="rect">
            <a:avLst/>
          </a:prstGeom>
        </p:spPr>
      </p:pic>
      <p:sp>
        <p:nvSpPr>
          <p:cNvPr id="7" name="Text 2"/>
          <p:cNvSpPr/>
          <p:nvPr/>
        </p:nvSpPr>
        <p:spPr>
          <a:xfrm>
            <a:off x="7428147" y="3286125"/>
            <a:ext cx="8572500" cy="476250"/>
          </a:xfrm>
          <a:prstGeom prst="rect">
            <a:avLst/>
          </a:prstGeom>
          <a:noFill/>
          <a:ln/>
        </p:spPr>
        <p:txBody>
          <a:bodyPr wrap="square" rtlCol="0" anchor="ctr"/>
          <a:lstStyle/>
          <a:p>
            <a:pPr marL="0" indent="0" algn="l">
              <a:buNone/>
            </a:pPr>
            <a:r>
              <a:rPr lang="en-US" sz="2550" b="1" dirty="0">
                <a:solidFill>
                  <a:srgbClr val="0F172A"/>
                </a:solidFill>
                <a:latin typeface="Poppins" pitchFamily="34" charset="0"/>
                <a:ea typeface="Poppins" pitchFamily="34" charset="-122"/>
                <a:cs typeface="Poppins" pitchFamily="34" charset="-120"/>
              </a:rPr>
              <a:t>Regional Adaptation</a:t>
            </a:r>
            <a:endParaRPr lang="en-US" sz="2550" dirty="0"/>
          </a:p>
        </p:txBody>
      </p:sp>
      <p:sp>
        <p:nvSpPr>
          <p:cNvPr id="8" name="Text 3"/>
          <p:cNvSpPr/>
          <p:nvPr/>
        </p:nvSpPr>
        <p:spPr>
          <a:xfrm>
            <a:off x="7429852" y="4009330"/>
            <a:ext cx="9239250" cy="990600"/>
          </a:xfrm>
          <a:prstGeom prst="rect">
            <a:avLst/>
          </a:prstGeom>
          <a:noFill/>
          <a:ln/>
        </p:spPr>
        <p:txBody>
          <a:bodyPr wrap="square" rtlCol="0" anchor="ctr"/>
          <a:lstStyle/>
          <a:p>
            <a:pPr marL="0" indent="0" algn="l">
              <a:lnSpc>
                <a:spcPct val="145000"/>
              </a:lnSpc>
              <a:buNone/>
            </a:pPr>
            <a:r>
              <a:rPr lang="en-US" sz="1800" dirty="0">
                <a:solidFill>
                  <a:srgbClr val="334155"/>
                </a:solidFill>
                <a:latin typeface="Inter" pitchFamily="34" charset="0"/>
                <a:ea typeface="Inter" pitchFamily="34" charset="-122"/>
                <a:cs typeface="Inter" pitchFamily="34" charset="-120"/>
              </a:rPr>
              <a:t>People build houses to fit the weather where they live. Cold, snowy places need slanted roofs and thick walls to stay warm, while hot places use flat roofs and light materials to stay cool.</a:t>
            </a:r>
            <a:endParaRPr lang="en-US" sz="1800" dirty="0"/>
          </a:p>
        </p:txBody>
      </p:sp>
      <p:pic>
        <p:nvPicPr>
          <p:cNvPr id="9" name="Image 3" descr="preencoded.png"/>
          <p:cNvPicPr>
            <a:picLocks noChangeAspect="1"/>
          </p:cNvPicPr>
          <p:nvPr/>
        </p:nvPicPr>
        <p:blipFill>
          <a:blip r:embed="rId6"/>
          <a:stretch>
            <a:fillRect/>
          </a:stretch>
        </p:blipFill>
        <p:spPr>
          <a:xfrm>
            <a:off x="6953250" y="5905500"/>
            <a:ext cx="10191750" cy="2857500"/>
          </a:xfrm>
          <a:prstGeom prst="rect">
            <a:avLst/>
          </a:prstGeom>
        </p:spPr>
      </p:pic>
      <p:sp>
        <p:nvSpPr>
          <p:cNvPr id="10" name="Text 4"/>
          <p:cNvSpPr/>
          <p:nvPr/>
        </p:nvSpPr>
        <p:spPr>
          <a:xfrm>
            <a:off x="7428728" y="6334125"/>
            <a:ext cx="8572500" cy="476250"/>
          </a:xfrm>
          <a:prstGeom prst="rect">
            <a:avLst/>
          </a:prstGeom>
          <a:noFill/>
          <a:ln/>
        </p:spPr>
        <p:txBody>
          <a:bodyPr wrap="square" rtlCol="0" anchor="ctr"/>
          <a:lstStyle/>
          <a:p>
            <a:pPr marL="0" indent="0" algn="l">
              <a:buNone/>
            </a:pPr>
            <a:r>
              <a:rPr lang="en-US" sz="2550" b="1" dirty="0">
                <a:solidFill>
                  <a:srgbClr val="000000"/>
                </a:solidFill>
                <a:latin typeface="Poppins" pitchFamily="34" charset="0"/>
                <a:ea typeface="Poppins" pitchFamily="34" charset="-122"/>
                <a:cs typeface="Poppins" pitchFamily="34" charset="-120"/>
              </a:rPr>
              <a:t>Environmental Protection</a:t>
            </a:r>
            <a:endParaRPr lang="en-US" sz="2550" dirty="0"/>
          </a:p>
        </p:txBody>
      </p:sp>
      <p:sp>
        <p:nvSpPr>
          <p:cNvPr id="11" name="Text 5"/>
          <p:cNvSpPr/>
          <p:nvPr/>
        </p:nvSpPr>
        <p:spPr>
          <a:xfrm>
            <a:off x="7429891" y="6953250"/>
            <a:ext cx="9239250" cy="990600"/>
          </a:xfrm>
          <a:prstGeom prst="rect">
            <a:avLst/>
          </a:prstGeom>
          <a:noFill/>
          <a:ln/>
        </p:spPr>
        <p:txBody>
          <a:bodyPr wrap="square" rtlCol="0" anchor="ctr"/>
          <a:lstStyle/>
          <a:p>
            <a:pPr marL="0" indent="0" algn="l">
              <a:lnSpc>
                <a:spcPct val="145000"/>
              </a:lnSpc>
              <a:buNone/>
            </a:pPr>
            <a:r>
              <a:rPr lang="en-US" sz="1800" dirty="0">
                <a:solidFill>
                  <a:srgbClr val="475569"/>
                </a:solidFill>
                <a:latin typeface="Inter" pitchFamily="34" charset="0"/>
                <a:ea typeface="Inter" pitchFamily="34" charset="-122"/>
                <a:cs typeface="Inter" pitchFamily="34" charset="-120"/>
              </a:rPr>
              <a:t>When the weather stays calm and stable, plants, animals, and people can all grow together. Predictable climate makes it easier for nature and towns to stay healthy and strong.</a:t>
            </a:r>
            <a:endParaRPr lang="en-US" sz="1800" dirty="0"/>
          </a:p>
        </p:txBody>
      </p:sp>
      <p:sp>
        <p:nvSpPr>
          <p:cNvPr id="12" name="TextBox 11"/>
          <p:cNvSpPr txBox="1"/>
          <p:nvPr/>
        </p:nvSpPr>
        <p:spPr>
          <a:xfrm>
            <a:off x="17282160" y="9784080"/>
            <a:ext cx="822960" cy="320040"/>
          </a:xfrm>
          <a:prstGeom prst="rect">
            <a:avLst/>
          </a:prstGeom>
          <a:noFill/>
        </p:spPr>
        <p:txBody>
          <a:bodyPr wrap="none">
            <a:spAutoFit/>
          </a:bodyPr>
          <a:lstStyle/>
          <a:p>
            <a:pPr algn="ctr"/>
            <a:r>
              <a:rPr sz="1200">
                <a:solidFill>
                  <a:srgbClr val="808080"/>
                </a:solidFill>
                <a:latin typeface="Inter"/>
              </a:rPr>
              <a:t>5 / 9</a:t>
            </a:r>
          </a:p>
        </p:txBody>
      </p:sp>
    </p:spTree>
  </p:cSld>
  <p:transition spd="med" dur="750">
    <p:fade thruBlk="0"/>
  </p:transition>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1076" y="683133"/>
            <a:ext cx="16002000" cy="800100"/>
          </a:xfrm>
          <a:prstGeom prst="rect">
            <a:avLst/>
          </a:prstGeom>
          <a:noFill/>
          <a:ln/>
        </p:spPr>
        <p:txBody>
          <a:bodyPr wrap="square" rtlCol="0" anchor="ctr"/>
          <a:lstStyle/>
          <a:p>
            <a:pPr marL="0" indent="0" algn="l">
              <a:buNone/>
            </a:pPr>
            <a:r>
              <a:rPr lang="en-US" sz="4400" b="1" dirty="0">
                <a:solidFill>
                  <a:srgbClr val="0F172A"/>
                </a:solidFill>
                <a:latin typeface="Poppins" pitchFamily="34" charset="0"/>
                <a:ea typeface="Poppins" pitchFamily="34" charset="-122"/>
                <a:cs typeface="Poppins" pitchFamily="34" charset="-120"/>
              </a:rPr>
              <a:t>Impact Of Weather On Oceans &amp; Soil</a:t>
            </a:r>
            <a:endParaRPr lang="en-US" sz="4200" dirty="0"/>
          </a:p>
        </p:txBody>
      </p:sp>
      <p:pic>
        <p:nvPicPr>
          <p:cNvPr id="3" name="Image 0" descr="preencoded.png"/>
          <p:cNvPicPr>
            <a:picLocks noChangeAspect="1"/>
          </p:cNvPicPr>
          <p:nvPr/>
        </p:nvPicPr>
        <p:blipFill>
          <a:blip r:embed="rId3"/>
          <a:stretch>
            <a:fillRect/>
          </a:stretch>
        </p:blipFill>
        <p:spPr>
          <a:xfrm>
            <a:off x="1143000" y="2952750"/>
            <a:ext cx="5143500" cy="6000750"/>
          </a:xfrm>
          <a:prstGeom prst="rect">
            <a:avLst/>
          </a:prstGeom>
        </p:spPr>
      </p:pic>
      <p:pic>
        <p:nvPicPr>
          <p:cNvPr id="4" name="Image 1" descr="preencoded.png"/>
          <p:cNvPicPr>
            <a:picLocks noChangeAspect="1"/>
          </p:cNvPicPr>
          <p:nvPr/>
        </p:nvPicPr>
        <p:blipFill>
          <a:blip r:embed="rId4"/>
          <a:stretch>
            <a:fillRect/>
          </a:stretch>
        </p:blipFill>
        <p:spPr>
          <a:xfrm>
            <a:off x="1143000" y="2952750"/>
            <a:ext cx="5143500" cy="2667000"/>
          </a:xfrm>
          <a:prstGeom prst="rect">
            <a:avLst/>
          </a:prstGeom>
        </p:spPr>
      </p:pic>
      <p:sp>
        <p:nvSpPr>
          <p:cNvPr id="5" name="Text 1"/>
          <p:cNvSpPr/>
          <p:nvPr/>
        </p:nvSpPr>
        <p:spPr>
          <a:xfrm>
            <a:off x="1524000" y="5905500"/>
            <a:ext cx="4476750" cy="476250"/>
          </a:xfrm>
          <a:prstGeom prst="rect">
            <a:avLst/>
          </a:prstGeom>
          <a:noFill/>
          <a:ln/>
        </p:spPr>
        <p:txBody>
          <a:bodyPr wrap="square" rtlCol="0" anchor="ctr"/>
          <a:lstStyle/>
          <a:p>
            <a:pPr marL="0" indent="0" algn="l">
              <a:buNone/>
            </a:pPr>
            <a:r>
              <a:rPr lang="en-US" sz="2400" b="1" dirty="0">
                <a:solidFill>
                  <a:srgbClr val="0F172A"/>
                </a:solidFill>
                <a:latin typeface="Poppins" pitchFamily="34" charset="0"/>
                <a:ea typeface="Poppins" pitchFamily="34" charset="-122"/>
                <a:cs typeface="Poppins" pitchFamily="34" charset="-120"/>
              </a:rPr>
              <a:t>Marine Systems</a:t>
            </a:r>
            <a:endParaRPr lang="en-US" sz="2400" dirty="0"/>
          </a:p>
        </p:txBody>
      </p:sp>
      <p:sp>
        <p:nvSpPr>
          <p:cNvPr id="6" name="Text 2"/>
          <p:cNvSpPr/>
          <p:nvPr/>
        </p:nvSpPr>
        <p:spPr>
          <a:xfrm>
            <a:off x="1523324" y="6524349"/>
            <a:ext cx="4381500" cy="1323975"/>
          </a:xfrm>
          <a:prstGeom prst="rect">
            <a:avLst/>
          </a:prstGeom>
          <a:noFill/>
          <a:ln/>
        </p:spPr>
        <p:txBody>
          <a:bodyPr wrap="square" rtlCol="0" anchor="ctr"/>
          <a:lstStyle/>
          <a:p>
            <a:pPr marL="0" indent="0" algn="l">
              <a:lnSpc>
                <a:spcPct val="145000"/>
              </a:lnSpc>
              <a:buNone/>
            </a:pPr>
            <a:r>
              <a:rPr lang="en-US" sz="1800" dirty="0">
                <a:solidFill>
                  <a:srgbClr val="000000"/>
                </a:solidFill>
                <a:latin typeface="Inter" pitchFamily="34" charset="0"/>
                <a:ea typeface="Inter" pitchFamily="34" charset="-122"/>
                <a:cs typeface="Inter" pitchFamily="34" charset="-120"/>
              </a:rPr>
              <a:t>Salinity of marine water, formation of oceanic currents, the water cycle, etc. are all related to various weather and climatic factors.</a:t>
            </a:r>
            <a:endParaRPr lang="en-US" sz="1800" dirty="0"/>
          </a:p>
        </p:txBody>
      </p:sp>
      <p:pic>
        <p:nvPicPr>
          <p:cNvPr id="7" name="Image 2" descr="preencoded.png"/>
          <p:cNvPicPr>
            <a:picLocks noChangeAspect="1"/>
          </p:cNvPicPr>
          <p:nvPr/>
        </p:nvPicPr>
        <p:blipFill>
          <a:blip r:embed="rId3"/>
          <a:stretch>
            <a:fillRect/>
          </a:stretch>
        </p:blipFill>
        <p:spPr>
          <a:xfrm>
            <a:off x="6572250" y="2952750"/>
            <a:ext cx="5143500" cy="6000750"/>
          </a:xfrm>
          <a:prstGeom prst="rect">
            <a:avLst/>
          </a:prstGeom>
        </p:spPr>
      </p:pic>
      <p:pic>
        <p:nvPicPr>
          <p:cNvPr id="8" name="Image 3" descr="preencoded.png"/>
          <p:cNvPicPr>
            <a:picLocks noChangeAspect="1"/>
          </p:cNvPicPr>
          <p:nvPr/>
        </p:nvPicPr>
        <p:blipFill>
          <a:blip r:embed="rId5"/>
          <a:stretch>
            <a:fillRect/>
          </a:stretch>
        </p:blipFill>
        <p:spPr>
          <a:xfrm>
            <a:off x="6572250" y="2952750"/>
            <a:ext cx="5143500" cy="2667000"/>
          </a:xfrm>
          <a:prstGeom prst="rect">
            <a:avLst/>
          </a:prstGeom>
        </p:spPr>
      </p:pic>
      <p:sp>
        <p:nvSpPr>
          <p:cNvPr id="9" name="Text 3"/>
          <p:cNvSpPr/>
          <p:nvPr/>
        </p:nvSpPr>
        <p:spPr>
          <a:xfrm>
            <a:off x="6953250" y="5905500"/>
            <a:ext cx="4476750" cy="476250"/>
          </a:xfrm>
          <a:prstGeom prst="rect">
            <a:avLst/>
          </a:prstGeom>
          <a:noFill/>
          <a:ln/>
        </p:spPr>
        <p:txBody>
          <a:bodyPr wrap="square" rtlCol="0" anchor="ctr"/>
          <a:lstStyle/>
          <a:p>
            <a:pPr marL="0" indent="0" algn="l">
              <a:buNone/>
            </a:pPr>
            <a:r>
              <a:rPr lang="en-US" sz="2400" b="1" dirty="0">
                <a:solidFill>
                  <a:srgbClr val="0F172A"/>
                </a:solidFill>
                <a:latin typeface="Poppins" pitchFamily="34" charset="0"/>
                <a:ea typeface="Poppins" pitchFamily="34" charset="-122"/>
                <a:cs typeface="Poppins" pitchFamily="34" charset="-120"/>
              </a:rPr>
              <a:t>Geological Processes</a:t>
            </a:r>
            <a:endParaRPr lang="en-US" sz="2400" dirty="0"/>
          </a:p>
        </p:txBody>
      </p:sp>
      <p:sp>
        <p:nvSpPr>
          <p:cNvPr id="10" name="Text 4"/>
          <p:cNvSpPr/>
          <p:nvPr/>
        </p:nvSpPr>
        <p:spPr>
          <a:xfrm>
            <a:off x="6953250" y="6524625"/>
            <a:ext cx="4381500" cy="666750"/>
          </a:xfrm>
          <a:prstGeom prst="rect">
            <a:avLst/>
          </a:prstGeom>
          <a:noFill/>
          <a:ln/>
        </p:spPr>
        <p:txBody>
          <a:bodyPr wrap="square" rtlCol="0" anchor="ctr"/>
          <a:lstStyle/>
          <a:p>
            <a:pPr marL="0" indent="0" algn="l">
              <a:lnSpc>
                <a:spcPct val="145000"/>
              </a:lnSpc>
              <a:buNone/>
            </a:pPr>
            <a:r>
              <a:rPr lang="en-US" sz="1800" dirty="0">
                <a:solidFill>
                  <a:srgbClr val="000000"/>
                </a:solidFill>
                <a:latin typeface="Inter" pitchFamily="34" charset="0"/>
                <a:ea typeface="Inter" pitchFamily="34" charset="-122"/>
                <a:cs typeface="Inter" pitchFamily="34" charset="-120"/>
              </a:rPr>
              <a:t>Various climatic factors bring about the weathering of rocks in the earth's crust.</a:t>
            </a:r>
            <a:endParaRPr lang="en-US" sz="1800" dirty="0"/>
          </a:p>
        </p:txBody>
      </p:sp>
      <p:pic>
        <p:nvPicPr>
          <p:cNvPr id="11" name="Image 4" descr="preencoded.png"/>
          <p:cNvPicPr>
            <a:picLocks noChangeAspect="1"/>
          </p:cNvPicPr>
          <p:nvPr/>
        </p:nvPicPr>
        <p:blipFill>
          <a:blip r:embed="rId3"/>
          <a:stretch>
            <a:fillRect/>
          </a:stretch>
        </p:blipFill>
        <p:spPr>
          <a:xfrm>
            <a:off x="12001500" y="2952750"/>
            <a:ext cx="5143500" cy="6000750"/>
          </a:xfrm>
          <a:prstGeom prst="rect">
            <a:avLst/>
          </a:prstGeom>
        </p:spPr>
      </p:pic>
      <p:pic>
        <p:nvPicPr>
          <p:cNvPr id="12" name="Image 5" descr="preencoded.png"/>
          <p:cNvPicPr>
            <a:picLocks noChangeAspect="1"/>
          </p:cNvPicPr>
          <p:nvPr/>
        </p:nvPicPr>
        <p:blipFill>
          <a:blip r:embed="rId6"/>
          <a:stretch>
            <a:fillRect/>
          </a:stretch>
        </p:blipFill>
        <p:spPr>
          <a:xfrm>
            <a:off x="12001500" y="2952750"/>
            <a:ext cx="5143500" cy="2667000"/>
          </a:xfrm>
          <a:prstGeom prst="rect">
            <a:avLst/>
          </a:prstGeom>
        </p:spPr>
      </p:pic>
      <p:sp>
        <p:nvSpPr>
          <p:cNvPr id="13" name="Text 5"/>
          <p:cNvSpPr/>
          <p:nvPr/>
        </p:nvSpPr>
        <p:spPr>
          <a:xfrm>
            <a:off x="12382500" y="5905500"/>
            <a:ext cx="4476750" cy="476250"/>
          </a:xfrm>
          <a:prstGeom prst="rect">
            <a:avLst/>
          </a:prstGeom>
          <a:noFill/>
          <a:ln/>
        </p:spPr>
        <p:txBody>
          <a:bodyPr wrap="square" rtlCol="0" anchor="ctr"/>
          <a:lstStyle/>
          <a:p>
            <a:pPr marL="0" indent="0" algn="l">
              <a:buNone/>
            </a:pPr>
            <a:r>
              <a:rPr lang="en-US" sz="2400" b="1" dirty="0">
                <a:solidFill>
                  <a:srgbClr val="000000"/>
                </a:solidFill>
                <a:latin typeface="Poppins" pitchFamily="34" charset="0"/>
                <a:ea typeface="Poppins" pitchFamily="34" charset="-122"/>
                <a:cs typeface="Poppins" pitchFamily="34" charset="-120"/>
              </a:rPr>
              <a:t>Soil </a:t>
            </a:r>
            <a:endParaRPr lang="en-US" sz="2400" dirty="0"/>
          </a:p>
        </p:txBody>
      </p:sp>
      <p:sp>
        <p:nvSpPr>
          <p:cNvPr id="14" name="Text 6"/>
          <p:cNvSpPr/>
          <p:nvPr/>
        </p:nvSpPr>
        <p:spPr>
          <a:xfrm>
            <a:off x="12382595" y="6524349"/>
            <a:ext cx="4381500" cy="1323975"/>
          </a:xfrm>
          <a:prstGeom prst="rect">
            <a:avLst/>
          </a:prstGeom>
          <a:noFill/>
          <a:ln/>
        </p:spPr>
        <p:txBody>
          <a:bodyPr wrap="square" rtlCol="0" anchor="ctr"/>
          <a:lstStyle/>
          <a:p>
            <a:pPr marL="0" indent="0" algn="l">
              <a:lnSpc>
                <a:spcPct val="145000"/>
              </a:lnSpc>
              <a:buNone/>
            </a:pPr>
            <a:r>
              <a:rPr lang="en-US" sz="1800" dirty="0">
                <a:solidFill>
                  <a:srgbClr val="000000"/>
                </a:solidFill>
                <a:latin typeface="Inter" pitchFamily="34" charset="0"/>
                <a:ea typeface="Inter" pitchFamily="34" charset="-122"/>
                <a:cs typeface="Inter" pitchFamily="34" charset="-120"/>
              </a:rPr>
              <a:t>Climate plays a very important role in the formation and growth of soil. Microbes also play an important role in the formation of oraganic materials.</a:t>
            </a:r>
            <a:endParaRPr lang="en-US" sz="1800" dirty="0"/>
          </a:p>
        </p:txBody>
      </p:sp>
      <p:sp>
        <p:nvSpPr>
          <p:cNvPr id="15" name="TextBox 14"/>
          <p:cNvSpPr txBox="1"/>
          <p:nvPr/>
        </p:nvSpPr>
        <p:spPr>
          <a:xfrm>
            <a:off x="17282160" y="9784080"/>
            <a:ext cx="822960" cy="320040"/>
          </a:xfrm>
          <a:prstGeom prst="rect">
            <a:avLst/>
          </a:prstGeom>
          <a:noFill/>
        </p:spPr>
        <p:txBody>
          <a:bodyPr wrap="none">
            <a:spAutoFit/>
          </a:bodyPr>
          <a:lstStyle/>
          <a:p>
            <a:pPr algn="ctr"/>
            <a:r>
              <a:rPr sz="1200">
                <a:solidFill>
                  <a:srgbClr val="808080"/>
                </a:solidFill>
                <a:latin typeface="Inter"/>
              </a:rPr>
              <a:t>6 / 9</a:t>
            </a:r>
          </a:p>
        </p:txBody>
      </p:sp>
    </p:spTree>
  </p:cSld>
  <p:transition spd="med" dur="750">
    <p:fade thruBlk="0"/>
  </p:transition>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1143000" y="977198"/>
            <a:ext cx="8572500" cy="609600"/>
          </a:xfrm>
          <a:prstGeom prst="rect">
            <a:avLst/>
          </a:prstGeom>
          <a:noFill/>
          <a:ln/>
        </p:spPr>
        <p:txBody>
          <a:bodyPr wrap="square" rtlCol="0" anchor="ctr"/>
          <a:lstStyle/>
          <a:p>
            <a:pPr marL="0" indent="0" algn="l">
              <a:lnSpc>
                <a:spcPct val="103000"/>
              </a:lnSpc>
              <a:buNone/>
            </a:pPr>
            <a:r>
              <a:rPr lang="en-US" sz="4400" b="1" dirty="0">
                <a:solidFill>
                  <a:srgbClr val="000000"/>
                </a:solidFill>
                <a:latin typeface="Poppins" pitchFamily="34" charset="0"/>
                <a:ea typeface="Poppins" pitchFamily="34" charset="-122"/>
                <a:cs typeface="Poppins" pitchFamily="34" charset="-120"/>
              </a:rPr>
              <a:t>Meteorology</a:t>
            </a:r>
            <a:endParaRPr lang="en-US" sz="4650" dirty="0"/>
          </a:p>
        </p:txBody>
      </p:sp>
      <p:pic>
        <p:nvPicPr>
          <p:cNvPr id="3" name="Image 0" descr="preencoded.png"/>
          <p:cNvPicPr>
            <a:picLocks noChangeAspect="1"/>
          </p:cNvPicPr>
          <p:nvPr/>
        </p:nvPicPr>
        <p:blipFill>
          <a:blip r:embed="rId3"/>
          <a:stretch>
            <a:fillRect/>
          </a:stretch>
        </p:blipFill>
        <p:spPr>
          <a:xfrm>
            <a:off x="1125369" y="5076825"/>
            <a:ext cx="8590188" cy="1619250"/>
          </a:xfrm>
          <a:prstGeom prst="rect">
            <a:avLst/>
          </a:prstGeom>
        </p:spPr>
      </p:pic>
      <p:pic>
        <p:nvPicPr>
          <p:cNvPr id="4" name="Image 1" descr="preencoded.png"/>
          <p:cNvPicPr>
            <a:picLocks noChangeAspect="1"/>
          </p:cNvPicPr>
          <p:nvPr/>
        </p:nvPicPr>
        <p:blipFill>
          <a:blip r:embed="rId4"/>
          <a:stretch>
            <a:fillRect/>
          </a:stretch>
        </p:blipFill>
        <p:spPr>
          <a:xfrm>
            <a:off x="1143000" y="5143500"/>
            <a:ext cx="95250" cy="1619250"/>
          </a:xfrm>
          <a:prstGeom prst="rect">
            <a:avLst/>
          </a:prstGeom>
        </p:spPr>
      </p:pic>
      <p:sp>
        <p:nvSpPr>
          <p:cNvPr id="5" name="Text 1"/>
          <p:cNvSpPr/>
          <p:nvPr/>
        </p:nvSpPr>
        <p:spPr>
          <a:xfrm>
            <a:off x="1619250" y="5381625"/>
            <a:ext cx="7810500" cy="428625"/>
          </a:xfrm>
          <a:prstGeom prst="rect">
            <a:avLst/>
          </a:prstGeom>
          <a:noFill/>
          <a:ln/>
        </p:spPr>
        <p:txBody>
          <a:bodyPr wrap="square" rtlCol="0" anchor="ctr"/>
          <a:lstStyle/>
          <a:p>
            <a:pPr marL="0" indent="0" algn="l">
              <a:buNone/>
            </a:pPr>
            <a:endParaRPr lang="en-US" sz="2250" dirty="0"/>
          </a:p>
        </p:txBody>
      </p:sp>
      <p:sp>
        <p:nvSpPr>
          <p:cNvPr id="6" name="Text 2"/>
          <p:cNvSpPr/>
          <p:nvPr/>
        </p:nvSpPr>
        <p:spPr>
          <a:xfrm>
            <a:off x="1619250" y="5810250"/>
            <a:ext cx="7810500" cy="609600"/>
          </a:xfrm>
          <a:prstGeom prst="rect">
            <a:avLst/>
          </a:prstGeom>
          <a:noFill/>
          <a:ln/>
        </p:spPr>
        <p:txBody>
          <a:bodyPr wrap="square" rtlCol="0" anchor="ctr"/>
          <a:lstStyle/>
          <a:p>
            <a:pPr marL="0" indent="0" algn="l">
              <a:lnSpc>
                <a:spcPct val="100000"/>
              </a:lnSpc>
              <a:buNone/>
            </a:pPr>
            <a:r>
              <a:rPr lang="en-GB" sz="1725" dirty="0">
                <a:solidFill>
                  <a:srgbClr val="475569"/>
                </a:solidFill>
                <a:latin typeface="Inter" pitchFamily="34" charset="0"/>
                <a:ea typeface="Inter" pitchFamily="34" charset="-122"/>
                <a:cs typeface="Inter" pitchFamily="34" charset="-120"/>
              </a:rPr>
              <a:t>Meteorologists monitor temperature, air pressure, humidity, wind speed, and precipitation to understand weather patterns.</a:t>
            </a:r>
            <a:endParaRPr lang="en-US" sz="1725" dirty="0"/>
          </a:p>
        </p:txBody>
      </p:sp>
      <p:pic>
        <p:nvPicPr>
          <p:cNvPr id="7" name="Image 2" descr="preencoded.png"/>
          <p:cNvPicPr>
            <a:picLocks noChangeAspect="1"/>
          </p:cNvPicPr>
          <p:nvPr/>
        </p:nvPicPr>
        <p:blipFill>
          <a:blip r:embed="rId5"/>
          <a:stretch>
            <a:fillRect/>
          </a:stretch>
        </p:blipFill>
        <p:spPr>
          <a:xfrm>
            <a:off x="1143000" y="7000875"/>
            <a:ext cx="8572500" cy="1619250"/>
          </a:xfrm>
          <a:prstGeom prst="rect">
            <a:avLst/>
          </a:prstGeom>
        </p:spPr>
      </p:pic>
      <p:pic>
        <p:nvPicPr>
          <p:cNvPr id="8" name="Image 3" descr="preencoded.png"/>
          <p:cNvPicPr>
            <a:picLocks noChangeAspect="1"/>
          </p:cNvPicPr>
          <p:nvPr/>
        </p:nvPicPr>
        <p:blipFill>
          <a:blip r:embed="rId4"/>
          <a:stretch>
            <a:fillRect/>
          </a:stretch>
        </p:blipFill>
        <p:spPr>
          <a:xfrm>
            <a:off x="1143000" y="7000875"/>
            <a:ext cx="95250" cy="1619250"/>
          </a:xfrm>
          <a:prstGeom prst="rect">
            <a:avLst/>
          </a:prstGeom>
        </p:spPr>
      </p:pic>
      <p:sp>
        <p:nvSpPr>
          <p:cNvPr id="9" name="Text 3"/>
          <p:cNvSpPr/>
          <p:nvPr/>
        </p:nvSpPr>
        <p:spPr>
          <a:xfrm>
            <a:off x="1619250" y="7239000"/>
            <a:ext cx="7810500" cy="428625"/>
          </a:xfrm>
          <a:prstGeom prst="rect">
            <a:avLst/>
          </a:prstGeom>
          <a:noFill/>
          <a:ln/>
        </p:spPr>
        <p:txBody>
          <a:bodyPr wrap="square" rtlCol="0" anchor="ctr"/>
          <a:lstStyle/>
          <a:p>
            <a:pPr marL="0" indent="0" algn="l">
              <a:buNone/>
            </a:pPr>
            <a:r>
              <a:rPr lang="en-US" sz="2250" b="1" dirty="0">
                <a:solidFill>
                  <a:srgbClr val="0F172A"/>
                </a:solidFill>
                <a:latin typeface="Poppins" pitchFamily="34" charset="0"/>
                <a:ea typeface="Poppins" pitchFamily="34" charset="-122"/>
                <a:cs typeface="Poppins" pitchFamily="34" charset="-120"/>
              </a:rPr>
              <a:t>Meteorology Departments</a:t>
            </a:r>
            <a:endParaRPr lang="en-US" sz="2250" dirty="0"/>
          </a:p>
        </p:txBody>
      </p:sp>
      <p:sp>
        <p:nvSpPr>
          <p:cNvPr id="10" name="Text 4"/>
          <p:cNvSpPr/>
          <p:nvPr/>
        </p:nvSpPr>
        <p:spPr>
          <a:xfrm>
            <a:off x="1619250" y="7667625"/>
            <a:ext cx="7810500" cy="609600"/>
          </a:xfrm>
          <a:prstGeom prst="rect">
            <a:avLst/>
          </a:prstGeom>
          <a:noFill/>
          <a:ln/>
        </p:spPr>
        <p:txBody>
          <a:bodyPr wrap="square" rtlCol="0" anchor="ctr"/>
          <a:lstStyle/>
          <a:p>
            <a:pPr marL="0" indent="0" algn="l">
              <a:lnSpc>
                <a:spcPct val="140000"/>
              </a:lnSpc>
              <a:buNone/>
            </a:pPr>
            <a:r>
              <a:rPr lang="en-US" sz="1725" dirty="0">
                <a:solidFill>
                  <a:srgbClr val="475569"/>
                </a:solidFill>
                <a:latin typeface="Inter" pitchFamily="34" charset="0"/>
                <a:ea typeface="Inter" pitchFamily="34" charset="-122"/>
                <a:cs typeface="Inter" pitchFamily="34" charset="-120"/>
              </a:rPr>
              <a:t>Many countries have meteorology departments that make and record observations to understand weather and climate patterns.</a:t>
            </a:r>
            <a:endParaRPr lang="en-US" sz="1725" dirty="0"/>
          </a:p>
        </p:txBody>
      </p:sp>
      <p:sp>
        <p:nvSpPr>
          <p:cNvPr id="11" name="Text 5"/>
          <p:cNvSpPr/>
          <p:nvPr/>
        </p:nvSpPr>
        <p:spPr>
          <a:xfrm>
            <a:off x="1143000" y="1905000"/>
            <a:ext cx="8382000" cy="638175"/>
          </a:xfrm>
          <a:prstGeom prst="rect">
            <a:avLst/>
          </a:prstGeom>
          <a:noFill/>
          <a:ln/>
        </p:spPr>
        <p:txBody>
          <a:bodyPr wrap="square" rtlCol="0" anchor="ctr"/>
          <a:lstStyle/>
          <a:p>
            <a:pPr marL="0" indent="0" algn="l">
              <a:lnSpc>
                <a:spcPct val="140000"/>
              </a:lnSpc>
              <a:buNone/>
            </a:pPr>
            <a:r>
              <a:rPr lang="en-US" sz="1800" dirty="0">
                <a:solidFill>
                  <a:srgbClr val="475569"/>
                </a:solidFill>
                <a:latin typeface="Inter" pitchFamily="34" charset="0"/>
                <a:ea typeface="Inter" pitchFamily="34" charset="-122"/>
                <a:cs typeface="Inter" pitchFamily="34" charset="-120"/>
              </a:rPr>
              <a:t>While studying the climate of a region, it is important to review earlier research on different aspects of climate.</a:t>
            </a:r>
            <a:endParaRPr lang="en-US" sz="1800" dirty="0"/>
          </a:p>
        </p:txBody>
      </p:sp>
      <p:pic>
        <p:nvPicPr>
          <p:cNvPr id="13" name="Image 0" descr="preencoded.png">
            <a:extLst>
              <a:ext uri="{FF2B5EF4-FFF2-40B4-BE49-F238E27FC236}">
                <a16:creationId xmlns:a16="http://schemas.microsoft.com/office/drawing/2014/main" id="{CE77190D-9DDD-160F-0451-FDBA780DA682}"/>
              </a:ext>
            </a:extLst>
          </p:cNvPr>
          <p:cNvPicPr>
            <a:picLocks noChangeAspect="1"/>
          </p:cNvPicPr>
          <p:nvPr/>
        </p:nvPicPr>
        <p:blipFill>
          <a:blip r:embed="rId3"/>
          <a:stretch>
            <a:fillRect/>
          </a:stretch>
        </p:blipFill>
        <p:spPr>
          <a:xfrm>
            <a:off x="1143000" y="3114675"/>
            <a:ext cx="8590188" cy="1619250"/>
          </a:xfrm>
          <a:prstGeom prst="rect">
            <a:avLst/>
          </a:prstGeom>
        </p:spPr>
      </p:pic>
      <p:pic>
        <p:nvPicPr>
          <p:cNvPr id="15" name="Image 1" descr="preencoded.png">
            <a:extLst>
              <a:ext uri="{FF2B5EF4-FFF2-40B4-BE49-F238E27FC236}">
                <a16:creationId xmlns:a16="http://schemas.microsoft.com/office/drawing/2014/main" id="{A5A93691-037E-F0C0-071A-07562D1D85B8}"/>
              </a:ext>
            </a:extLst>
          </p:cNvPr>
          <p:cNvPicPr>
            <a:picLocks noChangeAspect="1"/>
          </p:cNvPicPr>
          <p:nvPr/>
        </p:nvPicPr>
        <p:blipFill>
          <a:blip r:embed="rId4"/>
          <a:stretch>
            <a:fillRect/>
          </a:stretch>
        </p:blipFill>
        <p:spPr>
          <a:xfrm>
            <a:off x="1143000" y="3114675"/>
            <a:ext cx="95250" cy="1619250"/>
          </a:xfrm>
          <a:prstGeom prst="rect">
            <a:avLst/>
          </a:prstGeom>
        </p:spPr>
      </p:pic>
      <p:sp>
        <p:nvSpPr>
          <p:cNvPr id="17" name="Text 1">
            <a:extLst>
              <a:ext uri="{FF2B5EF4-FFF2-40B4-BE49-F238E27FC236}">
                <a16:creationId xmlns:a16="http://schemas.microsoft.com/office/drawing/2014/main" id="{DCDC88CF-17D3-7089-E443-0F7DB7E27D33}"/>
              </a:ext>
            </a:extLst>
          </p:cNvPr>
          <p:cNvSpPr/>
          <p:nvPr/>
        </p:nvSpPr>
        <p:spPr>
          <a:xfrm>
            <a:off x="1619250" y="3381375"/>
            <a:ext cx="7810500" cy="428625"/>
          </a:xfrm>
          <a:prstGeom prst="rect">
            <a:avLst/>
          </a:prstGeom>
          <a:noFill/>
          <a:ln/>
        </p:spPr>
        <p:txBody>
          <a:bodyPr wrap="square" rtlCol="0" anchor="ctr"/>
          <a:lstStyle/>
          <a:p>
            <a:pPr marL="0" indent="0" algn="l">
              <a:buNone/>
            </a:pPr>
            <a:r>
              <a:rPr lang="en-US" sz="2250" b="1" dirty="0">
                <a:solidFill>
                  <a:srgbClr val="0F172A"/>
                </a:solidFill>
                <a:latin typeface="Poppins" pitchFamily="34" charset="0"/>
                <a:ea typeface="Poppins" pitchFamily="34" charset="-122"/>
                <a:cs typeface="Poppins" pitchFamily="34" charset="-120"/>
              </a:rPr>
              <a:t>Role of Meteorology</a:t>
            </a:r>
            <a:endParaRPr lang="en-US" sz="2250" dirty="0"/>
          </a:p>
        </p:txBody>
      </p:sp>
      <p:sp>
        <p:nvSpPr>
          <p:cNvPr id="19" name="Text 2">
            <a:extLst>
              <a:ext uri="{FF2B5EF4-FFF2-40B4-BE49-F238E27FC236}">
                <a16:creationId xmlns:a16="http://schemas.microsoft.com/office/drawing/2014/main" id="{118E59A3-14E3-BDB1-FB9A-70CDF4C3D973}"/>
              </a:ext>
            </a:extLst>
          </p:cNvPr>
          <p:cNvSpPr/>
          <p:nvPr/>
        </p:nvSpPr>
        <p:spPr>
          <a:xfrm>
            <a:off x="1619250" y="3867150"/>
            <a:ext cx="7810500" cy="609600"/>
          </a:xfrm>
          <a:prstGeom prst="rect">
            <a:avLst/>
          </a:prstGeom>
          <a:noFill/>
          <a:ln/>
        </p:spPr>
        <p:txBody>
          <a:bodyPr wrap="square" rtlCol="0" anchor="ctr"/>
          <a:lstStyle/>
          <a:p>
            <a:pPr marL="0" indent="0" algn="l">
              <a:lnSpc>
                <a:spcPct val="140000"/>
              </a:lnSpc>
              <a:buNone/>
            </a:pPr>
            <a:r>
              <a:rPr lang="en-US" sz="1725" dirty="0">
                <a:solidFill>
                  <a:srgbClr val="475569"/>
                </a:solidFill>
                <a:latin typeface="Inter" pitchFamily="34" charset="0"/>
                <a:ea typeface="Inter" pitchFamily="34" charset="-122"/>
                <a:cs typeface="Inter" pitchFamily="34" charset="-120"/>
              </a:rPr>
              <a:t>Meteorology is the scientific study of the atmosphere, weather, and climate.</a:t>
            </a:r>
            <a:endParaRPr lang="en-US" sz="1725" dirty="0"/>
          </a:p>
        </p:txBody>
      </p:sp>
      <p:sp>
        <p:nvSpPr>
          <p:cNvPr id="22" name="Text 1">
            <a:extLst>
              <a:ext uri="{FF2B5EF4-FFF2-40B4-BE49-F238E27FC236}">
                <a16:creationId xmlns:a16="http://schemas.microsoft.com/office/drawing/2014/main" id="{6553581A-50BD-B1B9-8AAF-F7F27EB8AD97}"/>
              </a:ext>
            </a:extLst>
          </p:cNvPr>
          <p:cNvSpPr/>
          <p:nvPr/>
        </p:nvSpPr>
        <p:spPr>
          <a:xfrm>
            <a:off x="1619250" y="5354638"/>
            <a:ext cx="7810500" cy="428625"/>
          </a:xfrm>
          <a:prstGeom prst="rect">
            <a:avLst/>
          </a:prstGeom>
          <a:noFill/>
          <a:ln/>
        </p:spPr>
        <p:txBody>
          <a:bodyPr wrap="square" rtlCol="0" anchor="ctr"/>
          <a:lstStyle/>
          <a:p>
            <a:pPr marL="0" indent="0" algn="l">
              <a:buNone/>
            </a:pPr>
            <a:r>
              <a:rPr lang="en-US" sz="2250" b="1" dirty="0">
                <a:latin typeface="Poppins"/>
              </a:rPr>
              <a:t>How Weather Is Tracked</a:t>
            </a:r>
            <a:r>
              <a:rPr lang="en-US" sz="2250" dirty="0"/>
              <a:t> </a:t>
            </a:r>
          </a:p>
        </p:txBody>
      </p:sp>
      <p:sp>
        <p:nvSpPr>
          <p:cNvPr id="23" name="TextBox 22"/>
          <p:cNvSpPr txBox="1"/>
          <p:nvPr/>
        </p:nvSpPr>
        <p:spPr>
          <a:xfrm>
            <a:off x="17282160" y="9784080"/>
            <a:ext cx="822960" cy="320040"/>
          </a:xfrm>
          <a:prstGeom prst="rect">
            <a:avLst/>
          </a:prstGeom>
          <a:noFill/>
        </p:spPr>
        <p:txBody>
          <a:bodyPr wrap="none">
            <a:spAutoFit/>
          </a:bodyPr>
          <a:lstStyle/>
          <a:p>
            <a:pPr algn="ctr"/>
            <a:r>
              <a:rPr sz="1200">
                <a:solidFill>
                  <a:srgbClr val="808080"/>
                </a:solidFill>
                <a:latin typeface="Inter"/>
              </a:rPr>
              <a:t>7 / 9</a:t>
            </a:r>
          </a:p>
        </p:txBody>
      </p:sp>
    </p:spTree>
  </p:cSld>
  <p:transition spd="med" dur="750">
    <p:fade thruBlk="0"/>
  </p:transition>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8000"/>
          </a:blip>
          <a:stretch>
            <a:fillRect/>
          </a:stretch>
        </p:blipFill>
        <p:spPr>
          <a:xfrm>
            <a:off x="0" y="0"/>
            <a:ext cx="18288000" cy="10287000"/>
          </a:xfrm>
          <a:prstGeom prst="rect">
            <a:avLst/>
          </a:prstGeom>
        </p:spPr>
      </p:pic>
      <p:sp>
        <p:nvSpPr>
          <p:cNvPr id="3" name="Text 0"/>
          <p:cNvSpPr/>
          <p:nvPr/>
        </p:nvSpPr>
        <p:spPr>
          <a:xfrm>
            <a:off x="1143000" y="2857500"/>
            <a:ext cx="7239000" cy="2571750"/>
          </a:xfrm>
          <a:prstGeom prst="rect">
            <a:avLst/>
          </a:prstGeom>
          <a:noFill/>
          <a:ln/>
        </p:spPr>
        <p:txBody>
          <a:bodyPr wrap="square" rtlCol="0" anchor="ctr"/>
          <a:lstStyle/>
          <a:p>
            <a:pPr marL="0" indent="0" algn="l">
              <a:lnSpc>
                <a:spcPct val="90000"/>
              </a:lnSpc>
              <a:buNone/>
            </a:pPr>
            <a:r>
              <a:rPr lang="en-US" sz="22500" b="1" dirty="0">
                <a:solidFill>
                  <a:srgbClr val="FFFFFF"/>
                </a:solidFill>
                <a:latin typeface="Poppins" pitchFamily="34" charset="0"/>
                <a:ea typeface="Poppins" pitchFamily="34" charset="-122"/>
                <a:cs typeface="Poppins" pitchFamily="34" charset="-120"/>
              </a:rPr>
              <a:t>23</a:t>
            </a:r>
            <a:endParaRPr lang="en-US" sz="22500" dirty="0"/>
          </a:p>
        </p:txBody>
      </p:sp>
      <p:sp>
        <p:nvSpPr>
          <p:cNvPr id="4" name="Text 1"/>
          <p:cNvSpPr/>
          <p:nvPr/>
        </p:nvSpPr>
        <p:spPr>
          <a:xfrm>
            <a:off x="1238250" y="5715000"/>
            <a:ext cx="7239000" cy="800100"/>
          </a:xfrm>
          <a:prstGeom prst="rect">
            <a:avLst/>
          </a:prstGeom>
          <a:noFill/>
          <a:ln/>
        </p:spPr>
        <p:txBody>
          <a:bodyPr wrap="square" rtlCol="0" anchor="ctr"/>
          <a:lstStyle/>
          <a:p>
            <a:pPr marL="0" indent="0" algn="l">
              <a:buNone/>
            </a:pPr>
            <a:r>
              <a:rPr lang="en-US" sz="4200" b="1" dirty="0">
                <a:solidFill>
                  <a:srgbClr val="F8FAFC"/>
                </a:solidFill>
                <a:latin typeface="Poppins" pitchFamily="34" charset="0"/>
                <a:ea typeface="Poppins" pitchFamily="34" charset="-122"/>
                <a:cs typeface="Poppins" pitchFamily="34" charset="-120"/>
              </a:rPr>
              <a:t>MARCH</a:t>
            </a:r>
            <a:endParaRPr lang="en-US" sz="4200" dirty="0"/>
          </a:p>
        </p:txBody>
      </p:sp>
      <p:sp>
        <p:nvSpPr>
          <p:cNvPr id="5" name="Text 2"/>
          <p:cNvSpPr/>
          <p:nvPr/>
        </p:nvSpPr>
        <p:spPr>
          <a:xfrm>
            <a:off x="1238250" y="6477000"/>
            <a:ext cx="7239000" cy="476250"/>
          </a:xfrm>
          <a:prstGeom prst="rect">
            <a:avLst/>
          </a:prstGeom>
          <a:noFill/>
          <a:ln/>
        </p:spPr>
        <p:txBody>
          <a:bodyPr wrap="square" rtlCol="0" anchor="ctr"/>
          <a:lstStyle/>
          <a:p>
            <a:pPr marL="0" indent="0" algn="l">
              <a:buNone/>
            </a:pPr>
            <a:r>
              <a:rPr lang="en-US" sz="2400" dirty="0">
                <a:solidFill>
                  <a:srgbClr val="CBD5E1"/>
                </a:solidFill>
                <a:latin typeface="Inter" pitchFamily="34" charset="0"/>
                <a:ea typeface="Inter" pitchFamily="34" charset="-122"/>
                <a:cs typeface="Inter" pitchFamily="34" charset="-120"/>
              </a:rPr>
              <a:t>World Meteorological Day</a:t>
            </a:r>
            <a:endParaRPr lang="en-US" sz="2400" dirty="0"/>
          </a:p>
        </p:txBody>
      </p:sp>
      <p:pic>
        <p:nvPicPr>
          <p:cNvPr id="6" name="Image 1" descr="preencoded.png"/>
          <p:cNvPicPr>
            <a:picLocks noChangeAspect="1"/>
          </p:cNvPicPr>
          <p:nvPr/>
        </p:nvPicPr>
        <p:blipFill>
          <a:blip r:embed="rId4"/>
          <a:stretch>
            <a:fillRect/>
          </a:stretch>
        </p:blipFill>
        <p:spPr>
          <a:xfrm>
            <a:off x="9525000" y="2857500"/>
            <a:ext cx="7620000" cy="5334000"/>
          </a:xfrm>
          <a:prstGeom prst="rect">
            <a:avLst/>
          </a:prstGeom>
        </p:spPr>
      </p:pic>
      <p:pic>
        <p:nvPicPr>
          <p:cNvPr id="7" name="Image 2" descr="preencoded.png"/>
          <p:cNvPicPr>
            <a:picLocks noChangeAspect="1"/>
          </p:cNvPicPr>
          <p:nvPr/>
        </p:nvPicPr>
        <p:blipFill>
          <a:blip r:embed="rId5"/>
          <a:stretch>
            <a:fillRect/>
          </a:stretch>
        </p:blipFill>
        <p:spPr>
          <a:xfrm>
            <a:off x="9525000" y="2857500"/>
            <a:ext cx="7620000" cy="95250"/>
          </a:xfrm>
          <a:prstGeom prst="rect">
            <a:avLst/>
          </a:prstGeom>
        </p:spPr>
      </p:pic>
      <p:sp>
        <p:nvSpPr>
          <p:cNvPr id="8" name="Text 3"/>
          <p:cNvSpPr/>
          <p:nvPr/>
        </p:nvSpPr>
        <p:spPr>
          <a:xfrm>
            <a:off x="10001250" y="3333750"/>
            <a:ext cx="6667500" cy="476250"/>
          </a:xfrm>
          <a:prstGeom prst="rect">
            <a:avLst/>
          </a:prstGeom>
          <a:noFill/>
          <a:ln/>
        </p:spPr>
        <p:txBody>
          <a:bodyPr wrap="square" rtlCol="0" anchor="ctr"/>
          <a:lstStyle/>
          <a:p>
            <a:pPr marL="0" indent="0" algn="l">
              <a:buNone/>
            </a:pPr>
            <a:r>
              <a:rPr lang="en-US" sz="2550" b="1" dirty="0">
                <a:solidFill>
                  <a:srgbClr val="0F172A"/>
                </a:solidFill>
                <a:latin typeface="Poppins" pitchFamily="34" charset="0"/>
                <a:ea typeface="Poppins" pitchFamily="34" charset="-122"/>
                <a:cs typeface="Poppins" pitchFamily="34" charset="-120"/>
              </a:rPr>
              <a:t>Global Cooperation</a:t>
            </a:r>
            <a:endParaRPr lang="en-US" sz="2550" dirty="0"/>
          </a:p>
        </p:txBody>
      </p:sp>
      <p:sp>
        <p:nvSpPr>
          <p:cNvPr id="9" name="Text 4"/>
          <p:cNvSpPr/>
          <p:nvPr/>
        </p:nvSpPr>
        <p:spPr>
          <a:xfrm>
            <a:off x="10001250" y="4191000"/>
            <a:ext cx="6667500" cy="2771775"/>
          </a:xfrm>
          <a:prstGeom prst="rect">
            <a:avLst/>
          </a:prstGeom>
          <a:noFill/>
          <a:ln/>
        </p:spPr>
        <p:txBody>
          <a:bodyPr wrap="square" rtlCol="0" anchor="ctr"/>
          <a:lstStyle/>
          <a:p>
            <a:pPr marL="342900" indent="-342900" algn="l">
              <a:lnSpc>
                <a:spcPct val="160000"/>
              </a:lnSpc>
              <a:buSzPct val="100000"/>
              <a:buChar char="•"/>
            </a:pPr>
            <a:r>
              <a:rPr lang="en-US" sz="1950" dirty="0">
                <a:solidFill>
                  <a:srgbClr val="334155"/>
                </a:solidFill>
                <a:latin typeface="Inter" pitchFamily="34" charset="0"/>
                <a:ea typeface="Inter" pitchFamily="34" charset="-122"/>
                <a:cs typeface="Inter" pitchFamily="34" charset="-120"/>
              </a:rPr>
              <a:t>• By sharing weather data worldwide, we protect crops, keep communities safe, and help everyone plan their daily lives.</a:t>
            </a:r>
            <a:endParaRPr lang="en-US" sz="1950" dirty="0"/>
          </a:p>
          <a:p>
            <a:pPr marL="342900" indent="-342900" algn="l">
              <a:lnSpc>
                <a:spcPct val="160000"/>
              </a:lnSpc>
              <a:buSzPct val="100000"/>
              <a:buChar char="•"/>
            </a:pPr>
            <a:r>
              <a:rPr lang="en-US" sz="1950" dirty="0">
                <a:solidFill>
                  <a:srgbClr val="334155"/>
                </a:solidFill>
                <a:latin typeface="Inter" pitchFamily="34" charset="0"/>
                <a:ea typeface="Inter" pitchFamily="34" charset="-122"/>
                <a:cs typeface="Inter" pitchFamily="34" charset="-120"/>
              </a:rPr>
              <a:t>Teach people about weather science.</a:t>
            </a:r>
            <a:endParaRPr lang="en-US" sz="1950" dirty="0"/>
          </a:p>
          <a:p>
            <a:pPr marL="342900" indent="-342900" algn="l">
              <a:lnSpc>
                <a:spcPct val="160000"/>
              </a:lnSpc>
              <a:buSzPct val="100000"/>
              <a:buChar char="•"/>
            </a:pPr>
            <a:r>
              <a:rPr lang="en-US" sz="1950" dirty="0">
                <a:solidFill>
                  <a:srgbClr val="000000"/>
                </a:solidFill>
                <a:latin typeface="Inter" pitchFamily="34" charset="0"/>
                <a:ea typeface="Inter" pitchFamily="34" charset="-122"/>
                <a:cs typeface="Inter" pitchFamily="34" charset="-120"/>
              </a:rPr>
              <a:t>Learning about the weather helps us stay safe from storms and make smart choices every day.</a:t>
            </a:r>
            <a:endParaRPr lang="en-US" sz="1950" dirty="0"/>
          </a:p>
        </p:txBody>
      </p:sp>
      <p:sp>
        <p:nvSpPr>
          <p:cNvPr id="10" name="TextBox 9"/>
          <p:cNvSpPr txBox="1"/>
          <p:nvPr/>
        </p:nvSpPr>
        <p:spPr>
          <a:xfrm>
            <a:off x="17282160" y="9784080"/>
            <a:ext cx="822960" cy="320040"/>
          </a:xfrm>
          <a:prstGeom prst="rect">
            <a:avLst/>
          </a:prstGeom>
          <a:noFill/>
        </p:spPr>
        <p:txBody>
          <a:bodyPr wrap="none">
            <a:spAutoFit/>
          </a:bodyPr>
          <a:lstStyle/>
          <a:p>
            <a:pPr algn="ctr"/>
            <a:r>
              <a:rPr sz="1200">
                <a:solidFill>
                  <a:srgbClr val="808080"/>
                </a:solidFill>
                <a:latin typeface="Inter"/>
              </a:rPr>
              <a:t>8 / 9</a:t>
            </a:r>
          </a:p>
        </p:txBody>
      </p:sp>
    </p:spTree>
  </p:cSld>
  <p:transition spd="med" dur="750">
    <p:fade thruBlk="0"/>
  </p:transition>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5F9"/>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715250" y="4095750"/>
            <a:ext cx="2857500" cy="76200"/>
          </a:xfrm>
          <a:prstGeom prst="rect">
            <a:avLst/>
          </a:prstGeom>
        </p:spPr>
      </p:pic>
      <p:sp>
        <p:nvSpPr>
          <p:cNvPr id="3" name="Text 0"/>
          <p:cNvSpPr/>
          <p:nvPr/>
        </p:nvSpPr>
        <p:spPr>
          <a:xfrm>
            <a:off x="3429000" y="3429000"/>
            <a:ext cx="11430000" cy="381000"/>
          </a:xfrm>
          <a:prstGeom prst="rect">
            <a:avLst/>
          </a:prstGeom>
          <a:noFill/>
          <a:ln/>
        </p:spPr>
        <p:txBody>
          <a:bodyPr wrap="square" rtlCol="0" anchor="ctr"/>
          <a:lstStyle/>
          <a:p>
            <a:pPr marL="0" indent="0" algn="ctr">
              <a:buNone/>
            </a:pPr>
            <a:r>
              <a:rPr lang="en-US" sz="1950" b="1" dirty="0">
                <a:solidFill>
                  <a:srgbClr val="059669"/>
                </a:solidFill>
                <a:latin typeface="Inter" pitchFamily="34" charset="0"/>
                <a:ea typeface="Inter" pitchFamily="34" charset="-122"/>
                <a:cs typeface="Inter" pitchFamily="34" charset="-120"/>
              </a:rPr>
              <a:t>ENVIRONMENTAL MANAGEMENT</a:t>
            </a:r>
            <a:endParaRPr lang="en-US" sz="1950" dirty="0"/>
          </a:p>
        </p:txBody>
      </p:sp>
      <p:sp>
        <p:nvSpPr>
          <p:cNvPr id="4" name="Text 1"/>
          <p:cNvSpPr/>
          <p:nvPr/>
        </p:nvSpPr>
        <p:spPr>
          <a:xfrm>
            <a:off x="3429000" y="4381500"/>
            <a:ext cx="11430000" cy="1628775"/>
          </a:xfrm>
          <a:prstGeom prst="rect">
            <a:avLst/>
          </a:prstGeom>
          <a:noFill/>
          <a:ln/>
        </p:spPr>
        <p:txBody>
          <a:bodyPr wrap="square" rtlCol="0" anchor="ctr"/>
          <a:lstStyle/>
          <a:p>
            <a:pPr marL="0" indent="0" algn="ctr">
              <a:lnSpc>
                <a:spcPct val="95000"/>
              </a:lnSpc>
              <a:buNone/>
            </a:pPr>
            <a:r>
              <a:rPr lang="en-US" sz="13500" b="1" dirty="0">
                <a:solidFill>
                  <a:srgbClr val="0F172A"/>
                </a:solidFill>
                <a:latin typeface="Poppins" pitchFamily="34" charset="0"/>
                <a:ea typeface="Poppins" pitchFamily="34" charset="-122"/>
                <a:cs typeface="Poppins" pitchFamily="34" charset="-120"/>
              </a:rPr>
              <a:t>THE END</a:t>
            </a:r>
            <a:endParaRPr lang="en-US" sz="13500" dirty="0"/>
          </a:p>
        </p:txBody>
      </p:sp>
    </p:spTree>
  </p:cSld>
  <p:transition spd="med" dur="900">
    <p:fade thruBlk="1"/>
  </p:transition>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490</Words>
  <Application>Microsoft Office PowerPoint</Application>
  <PresentationFormat>Custom</PresentationFormat>
  <Paragraphs>73</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Inter</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de7e2aa6-ae64-4162-ad51-76a6153512dd</dc:title>
  <dc:subject>Presentation Export</dc:subject>
  <dc:creator>Design Export</dc:creator>
  <cp:lastModifiedBy>Anirudh Vijay Kumar</cp:lastModifiedBy>
  <cp:revision>4</cp:revision>
  <dcterms:created xsi:type="dcterms:W3CDTF">2026-09-21T11:30:41Z</dcterms:created>
  <dcterms:modified xsi:type="dcterms:W3CDTF">2026-09-22T16:01:33Z</dcterms:modified>
</cp:coreProperties>
</file>