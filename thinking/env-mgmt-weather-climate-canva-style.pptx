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926080" y="3931920"/>
            <a:ext cx="6858000" cy="5029200"/>
          </a:xfrm>
          <a:prstGeom prst="ellipse">
            <a:avLst/>
          </a:prstGeom>
          <a:solidFill>
            <a:srgbClr val="0E3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645920"/>
            <a:ext cx="4754880" cy="3840480"/>
          </a:xfrm>
          <a:prstGeom prst="ellipse">
            <a:avLst/>
          </a:prstGeom>
          <a:solidFill>
            <a:srgbClr val="0E3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594360"/>
            <a:ext cx="3291840" cy="47548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A2A43"/>
                </a:solidFill>
                <a:latin typeface="Poppins"/>
              </a:rPr>
              <a:t>ENVIRONMENTAL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5669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Poppins"/>
              </a:rPr>
              <a:t>Weather &amp;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6000" b="1">
                <a:solidFill>
                  <a:srgbClr val="38BDF8"/>
                </a:solidFill>
                <a:latin typeface="Poppins"/>
              </a:rPr>
              <a:t>Climate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0">
                <a:solidFill>
                  <a:srgbClr val="BFD9F5"/>
                </a:solidFill>
                <a:latin typeface="Inter"/>
              </a:rPr>
              <a:t>From daily forecasts to hundred-year climates.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212080"/>
            <a:ext cx="5669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5A623"/>
                </a:solidFill>
                <a:latin typeface="Poppins"/>
              </a:rPr>
              <a:t>PRESENTED BY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Inter"/>
              </a:rPr>
              <a:t>ABHISHEK  •  AYOUSH  •  KANISHK  •  SARTHAK  •  DHIAAN</a:t>
            </a:r>
          </a:p>
        </p:txBody>
      </p:sp>
      <p:pic>
        <p:nvPicPr>
          <p:cNvPr id="7" name="Picture 6" descr="s1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822960"/>
            <a:ext cx="4480560" cy="5212080"/>
          </a:xfrm>
          <a:prstGeom prst="roundRect">
            <a:avLst/>
            <a:avLst>
              <a:gd name="adj" fmla="val 12000"/>
            </a:avLst>
          </a:prstGeom>
        </p:spPr>
      </p:pic>
    </p:spTree>
  </p:cSld>
  <p:transition spd="med" dur="900">
    <p:fade thruBlk="1"/>
  </p:transition>
  <p:clrMapOvr>
    <a:masterClrMapping/>
  </p:clrMapOvr>
  <p:timing>
    <p:tnLst>
      <p:par>
        <p:cTn id="1" dur="indefinite" restart="never" nodeType="tmrPar">
          <p:childTnLst>
            <p:seq concurrent="1" nextAc="seek">
              <p:cTn id="2" dur="indefinite" nodeType="mainSeq">
                <p:childTnLst>
                  <p:par>
                    <p:cTn id="3" fill="hold" nodeType="withEffect">
                      <p:childTnLst>
                        <p:par>
                          <p:cTn id="4" fill="hold" nodeType="clickEffect">
                            <p:childTnLst>
                              <p:animEffect transition="in" filter="zoom">
                                <p:cBhvr>
                                  <p:cTn id="5" dur="1400" fill="hold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 nodeType="withEffect">
                      <p:childTnLst>
                        <p:par>
                          <p:cTn id="7" fill="hold" nodeType="clickEffect">
                            <p:childTnLst>
                              <p:animEffect transition="in" filter="fade">
                                <p:cBhvr>
                                  <p:cTn id="8" dur="550" fill="hold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evt="onClick" delay="indefinite">
                          <p:tgtEl>
                            <p:spTgt spid="6"/>
                          </p:tgtEl>
                        </p:cond>
                      </p:stCondLst>
                      <p:childTnLst>
                        <p:par>
                          <p:cTn id="10" fill="hold" nodeType="clickEffect">
                            <p:childTnLst>
                              <p:animEffect transition="in" filter="fade">
                                <p:cBhvr>
                                  <p:cTn id="11" dur="450" fill="hold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400" b="1">
                <a:solidFill>
                  <a:srgbClr val="12324F"/>
                </a:solidFill>
                <a:latin typeface="Poppins"/>
              </a:rPr>
              <a:t>Weather vs Climate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4A6B8A"/>
                </a:solidFill>
                <a:latin typeface="Inter"/>
              </a:rPr>
              <a:t>Today outside — versus the pattern of decades.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011680"/>
            <a:ext cx="5257800" cy="4206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91072" y="2011680"/>
            <a:ext cx="5257800" cy="4206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228600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A2A43"/>
                </a:solidFill>
                <a:latin typeface="Poppins"/>
              </a:rPr>
              <a:t>WEATHER • HERE &amp; NOW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65392" y="2286000"/>
            <a:ext cx="3200400" cy="457200"/>
          </a:xfrm>
          <a:prstGeom prst="roundRect">
            <a:avLst>
              <a:gd name="adj" fmla="val 50000"/>
            </a:avLst>
          </a:prstGeom>
          <a:solidFill>
            <a:srgbClr val="22B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Poppins"/>
              </a:rPr>
              <a:t>CLIMATE • BIG &amp; LONG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71800"/>
            <a:ext cx="4709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12324F"/>
                </a:solidFill>
                <a:latin typeface="Inter"/>
              </a:rPr>
              <a:t>•  Changes every hour or day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12324F"/>
                </a:solidFill>
                <a:latin typeface="Inter"/>
              </a:rPr>
              <a:t>•  Rain, sunshine, wind, clouds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>
                <a:solidFill>
                  <a:srgbClr val="12324F"/>
                </a:solidFill>
                <a:latin typeface="Inter"/>
              </a:rPr>
              <a:t>•  Measured every single minute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5392" y="2971800"/>
            <a:ext cx="4709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12324F"/>
                </a:solidFill>
                <a:latin typeface="Inter"/>
              </a:rPr>
              <a:t>•  Averages over 30+ years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0">
                <a:solidFill>
                  <a:srgbClr val="12324F"/>
                </a:solidFill>
                <a:latin typeface="Inter"/>
              </a:rPr>
              <a:t>•  Deserts, rainforests, seasons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>
                <a:solidFill>
                  <a:srgbClr val="12324F"/>
                </a:solidFill>
                <a:latin typeface="Inter"/>
              </a:rPr>
              <a:t>•  Shapes plants, animals, us</a:t>
            </a:r>
          </a:p>
        </p:txBody>
      </p:sp>
    </p:spTree>
  </p:cSld>
  <p:transition spd="med" dur="750">
    <p:fade thruBlk="0"/>
  </p:transition>
  <p:clrMapOvr>
    <a:masterClrMapping/>
  </p:clrMapOvr>
  <p:timing>
    <p:tnLst>
      <p:par>
        <p:cTn id="1" dur="indefinite" restart="never" nodeType="tmrPar">
          <p:childTnLst>
            <p:seq concurrent="1" nextAc="seek">
              <p:cTn id="2" dur="indefinite" nodeType="mainSeq">
                <p:childTnLst>
                  <p:par>
                    <p:cTn id="3" fill="hold" nodeType="withEffect">
                      <p:childTnLst>
                        <p:par>
                          <p:cTn id="4" fill="hold" nodeType="clickEffect">
                            <p:childTnLst>
                              <p:animEffect transition="in" filter="fade">
                                <p:cBhvr>
                                  <p:cTn id="5" dur="55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 nodeType="clickPar">
                      <p:stCondLst>
                        <p:cond evt="onClick" delay="indefinite">
                          <p:tgtEl>
                            <p:spTgt spid="3"/>
                          </p:tgtEl>
                        </p:cond>
                      </p:stCondLst>
                      <p:childTnLst>
                        <p:par>
                          <p:cTn id="7" fill="hold" nodeType="clickEffect">
                            <p:childTnLst>
                              <p:animEffect transition="in" filter="fade">
                                <p:cBhvr>
                                  <p:cTn id="8" dur="450" fill="hold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evt="onClick" delay="indefinite">
                          <p:tgtEl>
                            <p:spTgt spid="7"/>
                          </p:tgtEl>
                        </p:cond>
                      </p:stCondLst>
                      <p:childTnLst>
                        <p:par>
                          <p:cTn id="10" fill="hold" nodeType="clickEffect">
                            <p:childTnLst>
                              <p:animEffect transition="in" filter="fade">
                                <p:cBhvr>
                                  <p:cTn id="11" dur="450" fill="hold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evt="onClick" delay="indefinite">
                          <p:tgtEl>
                            <p:spTgt spid="4"/>
                          </p:tgtEl>
                        </p:cond>
                      </p:stCondLst>
                      <p:childTnLst>
                        <p:par>
                          <p:cTn id="13" fill="hold" nodeType="clickEffect">
                            <p:childTnLst>
                              <p:animEffect transition="in" filter="fade">
                                <p:cBhvr>
                                  <p:cTn id="14" dur="45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evt="onClick" delay="indefinite">
                          <p:tgtEl>
                            <p:spTgt spid="8"/>
                          </p:tgtEl>
                        </p:cond>
                      </p:stCondLst>
                      <p:childTnLst>
                        <p:par>
                          <p:cTn id="16" fill="hold" nodeType="clickEffect">
                            <p:childTnLst>
                              <p:animEffect transition="in" filter="fade">
                                <p:cBhvr>
                                  <p:cTn id="17" dur="450" fill="hold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0E3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4572000"/>
            <a:ext cx="5029200" cy="4572000"/>
          </a:xfrm>
          <a:prstGeom prst="ellipse">
            <a:avLst/>
          </a:prstGeom>
          <a:solidFill>
            <a:srgbClr val="0E3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Poppins"/>
              </a:rPr>
              <a:t>What Shapes Weather &amp; Climate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BFD9F5"/>
                </a:solidFill>
                <a:latin typeface="Inter"/>
              </a:rPr>
              <a:t>Seven forces behind every forecast</a:t>
            </a:r>
          </a:p>
        </p:txBody>
      </p:sp>
      <p:sp>
        <p:nvSpPr>
          <p:cNvPr id="5" name="Oval 4"/>
          <p:cNvSpPr/>
          <p:nvPr/>
        </p:nvSpPr>
        <p:spPr>
          <a:xfrm>
            <a:off x="5486400" y="1965960"/>
            <a:ext cx="1234440" cy="123444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400" b="1">
                <a:solidFill>
                  <a:srgbClr val="0A2A43"/>
                </a:solidFill>
                <a:latin typeface="Poppins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" y="3520440"/>
            <a:ext cx="2651760" cy="56692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A2A43"/>
                </a:solidFill>
                <a:latin typeface="Poppins"/>
              </a:rPr>
              <a:t>Atmospheric Pressure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82696" y="3520440"/>
            <a:ext cx="2651760" cy="566928"/>
          </a:xfrm>
          <a:prstGeom prst="roundRect">
            <a:avLst>
              <a:gd name="adj" fmla="val 50000"/>
            </a:avLst>
          </a:prstGeom>
          <a:solidFill>
            <a:srgbClr val="22B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Sunlight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54496" y="3520440"/>
            <a:ext cx="2651760" cy="566928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A2A43"/>
                </a:solidFill>
                <a:latin typeface="Poppins"/>
              </a:rPr>
              <a:t>Clouds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26296" y="3520440"/>
            <a:ext cx="2651760" cy="56692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A2A43"/>
                </a:solidFill>
                <a:latin typeface="Poppins"/>
              </a:rPr>
              <a:t>Visibility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01368" y="4251960"/>
            <a:ext cx="2651760" cy="566928"/>
          </a:xfrm>
          <a:prstGeom prst="roundRect">
            <a:avLst>
              <a:gd name="adj" fmla="val 50000"/>
            </a:avLst>
          </a:prstGeom>
          <a:solidFill>
            <a:srgbClr val="22B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Poppins"/>
              </a:rPr>
              <a:t>Temperature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73168" y="4251960"/>
            <a:ext cx="2651760" cy="566928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A2A43"/>
                </a:solidFill>
                <a:latin typeface="Poppins"/>
              </a:rPr>
              <a:t>Rainfall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44968" y="4251960"/>
            <a:ext cx="2651760" cy="56692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A2A43"/>
                </a:solidFill>
                <a:latin typeface="Poppins"/>
              </a:rPr>
              <a:t>Humidity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120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BFD9F5"/>
                </a:solidFill>
                <a:latin typeface="Inter"/>
              </a:rPr>
              <a:t>Pressure pushes winds • Sun heats air • Water writes the rest</a:t>
            </a:r>
          </a:p>
        </p:txBody>
      </p:sp>
    </p:spTree>
  </p:cSld>
  <p:transition spd="med" dur="750">
    <p:fade thruBlk="0"/>
  </p:transition>
  <p:clrMapOvr>
    <a:masterClrMapping/>
  </p:clrMapOvr>
  <p:timing>
    <p:tnLst>
      <p:par>
        <p:cTn id="1" dur="indefinite" restart="never" nodeType="tmrPar">
          <p:childTnLst>
            <p:seq concurrent="1" nextAc="seek">
              <p:cTn id="2" dur="indefinite" nodeType="mainSeq">
                <p:childTnLst>
                  <p:par>
                    <p:cTn id="3" fill="hold" nodeType="withEffect">
                      <p:childTnLst>
                        <p:par>
                          <p:cTn id="4" fill="hold" nodeType="clickEffect">
                            <p:childTnLst>
                              <p:animEffect transition="in" filter="fade">
                                <p:cBhvr>
                                  <p:cTn id="5" dur="55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 nodeType="withEffect">
                      <p:childTnLst>
                        <p:par>
                          <p:cTn id="7" fill="hold" nodeType="clickEffect">
                            <p:childTnLst>
                              <p:animEffect transition="in" filter="fade">
                                <p:cBhvr>
                                  <p:cTn id="8" dur="550" fill="hold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evt="onClick" delay="indefinite">
                          <p:tgtEl>
                            <p:spTgt spid="6"/>
                          </p:tgtEl>
                        </p:cond>
                      </p:stCondLst>
                      <p:childTnLst>
                        <p:par>
                          <p:cTn id="10" fill="hold" nodeType="clickEffect">
                            <p:childTnLst>
                              <p:animEffect transition="in" filter="fade">
                                <p:cBhvr>
                                  <p:cTn id="11" dur="450" fill="hold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evt="onClick" delay="indefinite">
                          <p:tgtEl>
                            <p:spTgt spid="7"/>
                          </p:tgtEl>
                        </p:cond>
                      </p:stCondLst>
                      <p:childTnLst>
                        <p:par>
                          <p:cTn id="13" fill="hold" nodeType="clickEffect">
                            <p:childTnLst>
                              <p:animEffect transition="in" filter="fade">
                                <p:cBhvr>
                                  <p:cTn id="14" dur="450" fill="hold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evt="onClick" delay="indefinite">
                          <p:tgtEl>
                            <p:spTgt spid="8"/>
                          </p:tgtEl>
                        </p:cond>
                      </p:stCondLst>
                      <p:childTnLst>
                        <p:par>
                          <p:cTn id="16" fill="hold" nodeType="clickEffect">
                            <p:childTnLst>
                              <p:animEffect transition="in" filter="fade">
                                <p:cBhvr>
                                  <p:cTn id="17" dur="450" fill="hold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evt="onClick" delay="indefinite">
                          <p:tgtEl>
                            <p:spTgt spid="9"/>
                          </p:tgtEl>
                        </p:cond>
                      </p:stCondLst>
                      <p:childTnLst>
                        <p:par>
                          <p:cTn id="19" fill="hold" nodeType="clickEffect">
                            <p:childTnLst>
                              <p:animEffect transition="in" filter="fade">
                                <p:cBhvr>
                                  <p:cTn id="20" dur="450" fill="hold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evt="onClick" delay="indefinite">
                          <p:tgtEl>
                            <p:spTgt spid="10"/>
                          </p:tgtEl>
                        </p:cond>
                      </p:stCondLst>
                      <p:childTnLst>
                        <p:par>
                          <p:cTn id="22" fill="hold" nodeType="clickEffect">
                            <p:childTnLst>
                              <p:animEffect transition="in" filter="fade">
                                <p:cBhvr>
                                  <p:cTn id="23" dur="45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evt="onClick" delay="indefinite">
                          <p:tgtEl>
                            <p:spTgt spid="11"/>
                          </p:tgtEl>
                        </p:cond>
                      </p:stCondLst>
                      <p:childTnLst>
                        <p:par>
                          <p:cTn id="25" fill="hold" nodeType="clickEffect">
                            <p:childTnLst>
                              <p:animEffect transition="in" filter="fade">
                                <p:cBhvr>
                                  <p:cTn id="26" dur="45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evt="onClick" delay="indefinite">
                          <p:tgtEl>
                            <p:spTgt spid="12"/>
                          </p:tgtEl>
                        </p:cond>
                      </p:stCondLst>
                      <p:childTnLst>
                        <p:par>
                          <p:cTn id="28" fill="hold" nodeType="clickEffect">
                            <p:childTnLst>
                              <p:animEffect transition="in" filter="fade">
                                <p:cBhvr>
                                  <p:cTn id="29" dur="45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evt="onClick" delay="indefinite">
                          <p:tgtEl>
                            <p:spTgt spid="13"/>
                          </p:tgtEl>
                        </p:cond>
                      </p:stCondLst>
                      <p:childTnLst>
                        <p:par>
                          <p:cTn id="31" fill="hold" nodeType="clickEffect">
                            <p:childTnLst>
                              <p:animEffect transition="in" filter="fade">
                                <p:cBhvr>
                                  <p:cTn id="32" dur="450" fill="hold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9509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200" b="1">
                <a:solidFill>
                  <a:srgbClr val="12324F"/>
                </a:solidFill>
                <a:latin typeface="Poppins"/>
              </a:rPr>
              <a:t>Why Weather Rules Our Lives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4A6B8A"/>
                </a:solidFill>
                <a:latin typeface="Inter"/>
              </a:rPr>
              <a:t>From daily choices to 100-year bridges — weather shapes it all.</a:t>
            </a:r>
          </a:p>
        </p:txBody>
      </p:sp>
      <p:pic>
        <p:nvPicPr>
          <p:cNvPr id="3" name="Picture 2" descr="s4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457200"/>
            <a:ext cx="868680" cy="5943600"/>
          </a:xfrm>
          <a:prstGeom prst="roundRect">
            <a:avLst/>
            <a:avLst>
              <a:gd name="adj" fmla="val 12000"/>
            </a:avLst>
          </a:prstGeom>
        </p:spPr>
      </p:pic>
      <p:sp>
        <p:nvSpPr>
          <p:cNvPr id="4" name="Rounded Rectangle 3"/>
          <p:cNvSpPr/>
          <p:nvPr/>
        </p:nvSpPr>
        <p:spPr>
          <a:xfrm>
            <a:off x="640080" y="2011680"/>
            <a:ext cx="4754880" cy="4206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77840" y="2011680"/>
            <a:ext cx="4754880" cy="4206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331720"/>
            <a:ext cx="146304" cy="100584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852160" y="2331720"/>
            <a:ext cx="146304" cy="1005840"/>
          </a:xfrm>
          <a:prstGeom prst="roundRect">
            <a:avLst>
              <a:gd name="adj" fmla="val 50000"/>
            </a:avLst>
          </a:prstGeom>
          <a:solidFill>
            <a:srgbClr val="22B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286000"/>
            <a:ext cx="40233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600" b="1">
                <a:solidFill>
                  <a:srgbClr val="12324F"/>
                </a:solidFill>
                <a:latin typeface="Poppins"/>
              </a:rPr>
              <a:t>Daily Life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4A6B8A"/>
                </a:solidFill>
                <a:latin typeface="Inter"/>
              </a:rPr>
              <a:t>What we wear, what we eat, where we live — weather decides daily.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2286000"/>
            <a:ext cx="40233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600" b="1">
                <a:solidFill>
                  <a:srgbClr val="12324F"/>
                </a:solidFill>
                <a:latin typeface="Poppins"/>
              </a:rPr>
              <a:t>Strong Builds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4A6B8A"/>
                </a:solidFill>
                <a:latin typeface="Inter"/>
              </a:rPr>
              <a:t>Bridges and airports engineered to beat any storm.</a:t>
            </a:r>
          </a:p>
        </p:txBody>
      </p:sp>
    </p:spTree>
  </p:cSld>
  <p:transition spd="med" dur="900">
    <p:prstTrans prst="zoom">
      <p:avLst/>
    </p:prstTrans>
  </p:transition>
  <p:clrMapOvr>
    <a:masterClrMapping/>
  </p:clrMapOvr>
  <p:timing>
    <p:tnLst>
      <p:par>
        <p:cTn id="1" dur="indefinite" restart="never" nodeType="tmrPar">
          <p:childTnLst>
            <p:seq concurrent="1" nextAc="seek">
              <p:cTn id="2" dur="indefinite" nodeType="mainSeq">
                <p:childTnLst>
                  <p:par>
                    <p:cTn id="3" fill="hold" nodeType="withEffect">
                      <p:childTnLst>
                        <p:par>
                          <p:cTn id="4" fill="hold" nodeType="clickEffect">
                            <p:childTnLst>
                              <p:animEffect transition="in" filter="fade">
                                <p:cBhvr>
                                  <p:cTn id="5" dur="55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 nodeType="withEffect">
                      <p:childTnLst>
                        <p:par>
                          <p:cTn id="7" fill="hold" nodeType="clickEffect">
                            <p:childTnLst>
                              <p:animEffect transition="in" filter="zoom">
                                <p:cBhvr>
                                  <p:cTn id="8" dur="1400" fill="hold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evt="onClick" delay="indefinite">
                          <p:tgtEl>
                            <p:spTgt spid="4"/>
                          </p:tgtEl>
                        </p:cond>
                      </p:stCondLst>
                      <p:childTnLst>
                        <p:par>
                          <p:cTn id="10" fill="hold" nodeType="clickEffect">
                            <p:childTnLst>
                              <p:animEffect transition="in" filter="fade">
                                <p:cBhvr>
                                  <p:cTn id="11" dur="45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evt="onClick" delay="indefinite">
                          <p:tgtEl>
                            <p:spTgt spid="8"/>
                          </p:tgtEl>
                        </p:cond>
                      </p:stCondLst>
                      <p:childTnLst>
                        <p:par>
                          <p:cTn id="13" fill="hold" nodeType="clickEffect">
                            <p:childTnLst>
                              <p:animEffect transition="in" filter="fade">
                                <p:cBhvr>
                                  <p:cTn id="14" dur="450" fill="hold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evt="onClick" delay="indefinite">
                          <p:tgtEl>
                            <p:spTgt spid="5"/>
                          </p:tgtEl>
                        </p:cond>
                      </p:stCondLst>
                      <p:childTnLst>
                        <p:par>
                          <p:cTn id="16" fill="hold" nodeType="clickEffect">
                            <p:childTnLst>
                              <p:animEffect transition="in" filter="fade">
                                <p:cBhvr>
                                  <p:cTn id="17" dur="450" fill="hold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evt="onClick" delay="indefinite">
                          <p:tgtEl>
                            <p:spTgt spid="9"/>
                          </p:tgtEl>
                        </p:cond>
                      </p:stCondLst>
                      <p:childTnLst>
                        <p:par>
                          <p:cTn id="19" fill="hold" nodeType="clickEffect">
                            <p:childTnLst>
                              <p:animEffect transition="in" filter="fade">
                                <p:cBhvr>
                                  <p:cTn id="20" dur="450" fill="hold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Poppins"/>
              </a:rPr>
              <a:t>Living With the Climate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BFD9F5"/>
                </a:solidFill>
                <a:latin typeface="Inter"/>
              </a:rPr>
              <a:t>We adapt to the weather — and protect the balance.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920240"/>
            <a:ext cx="5257800" cy="4297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91072" y="1920240"/>
            <a:ext cx="5257800" cy="4297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5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148840"/>
            <a:ext cx="4800600" cy="2103120"/>
          </a:xfrm>
          <a:prstGeom prst="roundRect">
            <a:avLst/>
            <a:avLst>
              <a:gd name="adj" fmla="val 12000"/>
            </a:avLst>
          </a:prstGeom>
        </p:spPr>
      </p:pic>
      <p:pic>
        <p:nvPicPr>
          <p:cNvPr id="6" name="Picture 5" descr="s5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672" y="2148840"/>
            <a:ext cx="4800600" cy="2103120"/>
          </a:xfrm>
          <a:prstGeom prst="roundRect">
            <a:avLst/>
            <a:avLst>
              <a:gd name="adj" fmla="val 12000"/>
            </a:avLst>
          </a:prstGeom>
        </p:spPr>
      </p:pic>
      <p:sp>
        <p:nvSpPr>
          <p:cNvPr id="7" name="TextBox 6"/>
          <p:cNvSpPr txBox="1"/>
          <p:nvPr/>
        </p:nvSpPr>
        <p:spPr>
          <a:xfrm>
            <a:off x="868680" y="4434840"/>
            <a:ext cx="4800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2324F"/>
                </a:solidFill>
                <a:latin typeface="Poppins"/>
              </a:rPr>
              <a:t>Build Smart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4A6B8A"/>
                </a:solidFill>
                <a:latin typeface="Inter"/>
              </a:rPr>
              <a:t>Slanted roofs shed snow; light flat roofs beat the heat.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19672" y="4434840"/>
            <a:ext cx="4800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2324F"/>
                </a:solidFill>
                <a:latin typeface="Poppins"/>
              </a:rPr>
              <a:t>Protect Nature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4A6B8A"/>
                </a:solidFill>
                <a:latin typeface="Inter"/>
              </a:rPr>
              <a:t>A stable climate keeps forests, farms, and towns thriving.</a:t>
            </a:r>
          </a:p>
        </p:txBody>
      </p:sp>
    </p:spTree>
  </p:cSld>
  <p:transition spd="med" dur="900">
    <p:morph thruBlk="0"/>
  </p:transition>
  <p:clrMapOvr>
    <a:masterClrMapping/>
  </p:clrMapOvr>
  <p:timing>
    <p:tnLst>
      <p:par>
        <p:cTn id="1" dur="indefinite" restart="never" nodeType="tmrPar">
          <p:childTnLst>
            <p:seq concurrent="1" nextAc="seek">
              <p:cTn id="2" dur="indefinite" nodeType="mainSeq">
                <p:childTnLst>
                  <p:par>
                    <p:cTn id="3" fill="hold" nodeType="withEffect">
                      <p:childTnLst>
                        <p:par>
                          <p:cTn id="4" fill="hold" nodeType="clickEffect">
                            <p:childTnLst>
                              <p:animEffect transition="in" filter="fade">
                                <p:cBhvr>
                                  <p:cTn id="5" dur="55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 nodeType="clickPar">
                      <p:stCondLst>
                        <p:cond evt="onClick" delay="indefinite">
                          <p:tgtEl>
                            <p:spTgt spid="3"/>
                          </p:tgtEl>
                        </p:cond>
                      </p:stCondLst>
                      <p:childTnLst>
                        <p:par>
                          <p:cTn id="7" fill="hold" nodeType="clickEffect">
                            <p:childTnLst>
                              <p:animEffect transition="in" filter="fade">
                                <p:cBhvr>
                                  <p:cTn id="8" dur="450" fill="hold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evt="onClick" delay="indefinite">
                          <p:tgtEl>
                            <p:spTgt spid="5"/>
                          </p:tgtEl>
                        </p:cond>
                      </p:stCondLst>
                      <p:childTnLst>
                        <p:par>
                          <p:cTn id="10" fill="hold" nodeType="clickEffect">
                            <p:childTnLst>
                              <p:animEffect transition="in" filter="fade">
                                <p:cBhvr>
                                  <p:cTn id="11" dur="450" fill="hold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evt="onClick" delay="indefinite">
                          <p:tgtEl>
                            <p:spTgt spid="7"/>
                          </p:tgtEl>
                        </p:cond>
                      </p:stCondLst>
                      <p:childTnLst>
                        <p:par>
                          <p:cTn id="13" fill="hold" nodeType="clickEffect">
                            <p:childTnLst>
                              <p:animEffect transition="in" filter="fade">
                                <p:cBhvr>
                                  <p:cTn id="14" dur="450" fill="hold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evt="onClick" delay="indefinite">
                          <p:tgtEl>
                            <p:spTgt spid="4"/>
                          </p:tgtEl>
                        </p:cond>
                      </p:stCondLst>
                      <p:childTnLst>
                        <p:par>
                          <p:cTn id="16" fill="hold" nodeType="clickEffect">
                            <p:childTnLst>
                              <p:animEffect transition="in" filter="fade">
                                <p:cBhvr>
                                  <p:cTn id="17" dur="45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evt="onClick" delay="indefinite">
                          <p:tgtEl>
                            <p:spTgt spid="6"/>
                          </p:tgtEl>
                        </p:cond>
                      </p:stCondLst>
                      <p:childTnLst>
                        <p:par>
                          <p:cTn id="19" fill="hold" nodeType="clickEffect">
                            <p:childTnLst>
                              <p:animEffect transition="in" filter="fade">
                                <p:cBhvr>
                                  <p:cTn id="20" dur="450" fill="hold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evt="onClick" delay="indefinite">
                          <p:tgtEl>
                            <p:spTgt spid="8"/>
                          </p:tgtEl>
                        </p:cond>
                      </p:stCondLst>
                      <p:childTnLst>
                        <p:par>
                          <p:cTn id="22" fill="hold" nodeType="clickEffect">
                            <p:childTnLst>
                              <p:animEffect transition="in" filter="fade">
                                <p:cBhvr>
                                  <p:cTn id="23" dur="450" fill="hold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12324F"/>
                </a:solidFill>
                <a:latin typeface="Poppins"/>
              </a:rPr>
              <a:t>Oceans, Rocks &amp; Soil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4A6B8A"/>
                </a:solidFill>
                <a:latin typeface="Inter"/>
              </a:rPr>
              <a:t>Weather sculpts water, stone, and the ground we farm.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783080"/>
            <a:ext cx="3429000" cy="4480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6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011680"/>
            <a:ext cx="2971800" cy="1737360"/>
          </a:xfrm>
          <a:prstGeom prst="roundRect">
            <a:avLst/>
            <a:avLst>
              <a:gd name="adj" fmla="val 12000"/>
            </a:avLst>
          </a:prstGeom>
        </p:spPr>
      </p:pic>
      <p:sp>
        <p:nvSpPr>
          <p:cNvPr id="5" name="TextBox 4"/>
          <p:cNvSpPr txBox="1"/>
          <p:nvPr/>
        </p:nvSpPr>
        <p:spPr>
          <a:xfrm>
            <a:off x="868680" y="3931920"/>
            <a:ext cx="2971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2324F"/>
                </a:solidFill>
                <a:latin typeface="Poppins"/>
              </a:rPr>
              <a:t>Oceans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0">
                <a:solidFill>
                  <a:srgbClr val="4A6B8A"/>
                </a:solidFill>
                <a:latin typeface="Inter"/>
              </a:rPr>
              <a:t>Currents, salinity, and the water cycle all run on weather.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9976" y="1783080"/>
            <a:ext cx="3429000" cy="4480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6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8576" y="2011680"/>
            <a:ext cx="2971800" cy="1737360"/>
          </a:xfrm>
          <a:prstGeom prst="roundRect">
            <a:avLst/>
            <a:avLst>
              <a:gd name="adj" fmla="val 12000"/>
            </a:avLst>
          </a:prstGeom>
        </p:spPr>
      </p:pic>
      <p:sp>
        <p:nvSpPr>
          <p:cNvPr id="8" name="TextBox 7"/>
          <p:cNvSpPr txBox="1"/>
          <p:nvPr/>
        </p:nvSpPr>
        <p:spPr>
          <a:xfrm>
            <a:off x="4608576" y="3931920"/>
            <a:ext cx="2971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2324F"/>
                </a:solidFill>
                <a:latin typeface="Poppins"/>
              </a:rPr>
              <a:t>Rocks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0">
                <a:solidFill>
                  <a:srgbClr val="4A6B8A"/>
                </a:solidFill>
                <a:latin typeface="Inter"/>
              </a:rPr>
              <a:t>Wind, water, and ice slowly grind mountains down.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1" y="1783080"/>
            <a:ext cx="3429000" cy="4480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6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8471" y="2011680"/>
            <a:ext cx="2971800" cy="1737360"/>
          </a:xfrm>
          <a:prstGeom prst="roundRect">
            <a:avLst/>
            <a:avLst>
              <a:gd name="adj" fmla="val 12000"/>
            </a:avLst>
          </a:prstGeom>
        </p:spPr>
      </p:pic>
      <p:sp>
        <p:nvSpPr>
          <p:cNvPr id="11" name="TextBox 10"/>
          <p:cNvSpPr txBox="1"/>
          <p:nvPr/>
        </p:nvSpPr>
        <p:spPr>
          <a:xfrm>
            <a:off x="8348471" y="3931920"/>
            <a:ext cx="2971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2324F"/>
                </a:solidFill>
                <a:latin typeface="Poppins"/>
              </a:rPr>
              <a:t>Soil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0">
                <a:solidFill>
                  <a:srgbClr val="4A6B8A"/>
                </a:solidFill>
                <a:latin typeface="Inter"/>
              </a:rPr>
              <a:t>Climate — plus tiny microbes — builds the soil we farm.</a:t>
            </a:r>
          </a:p>
        </p:txBody>
      </p:sp>
    </p:spTree>
  </p:cSld>
  <p:transition spd="med" dur="900">
    <p:prstTrans prst="zoom">
      <p:avLst/>
    </p:prstTrans>
  </p:transition>
  <p:clrMapOvr>
    <a:masterClrMapping/>
  </p:clrMapOvr>
  <p:timing>
    <p:tnLst>
      <p:par>
        <p:cTn id="1" dur="indefinite" restart="never" nodeType="tmrPar">
          <p:childTnLst>
            <p:seq concurrent="1" nextAc="seek">
              <p:cTn id="2" dur="indefinite" nodeType="mainSeq">
                <p:childTnLst>
                  <p:par>
                    <p:cTn id="3" fill="hold" nodeType="withEffect">
                      <p:childTnLst>
                        <p:par>
                          <p:cTn id="4" fill="hold" nodeType="clickEffect">
                            <p:childTnLst>
                              <p:animEffect transition="in" filter="fade">
                                <p:cBhvr>
                                  <p:cTn id="5" dur="55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 nodeType="clickPar">
                      <p:stCondLst>
                        <p:cond evt="onClick" delay="indefinite">
                          <p:tgtEl>
                            <p:spTgt spid="3"/>
                          </p:tgtEl>
                        </p:cond>
                      </p:stCondLst>
                      <p:childTnLst>
                        <p:par>
                          <p:cTn id="7" fill="hold" nodeType="clickEffect">
                            <p:childTnLst>
                              <p:animEffect transition="in" filter="fade">
                                <p:cBhvr>
                                  <p:cTn id="8" dur="450" fill="hold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evt="onClick" delay="indefinite">
                          <p:tgtEl>
                            <p:spTgt spid="4"/>
                          </p:tgtEl>
                        </p:cond>
                      </p:stCondLst>
                      <p:childTnLst>
                        <p:par>
                          <p:cTn id="10" fill="hold" nodeType="clickEffect">
                            <p:childTnLst>
                              <p:animEffect transition="in" filter="fade">
                                <p:cBhvr>
                                  <p:cTn id="11" dur="45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evt="onClick" delay="indefinite">
                          <p:tgtEl>
                            <p:spTgt spid="5"/>
                          </p:tgtEl>
                        </p:cond>
                      </p:stCondLst>
                      <p:childTnLst>
                        <p:par>
                          <p:cTn id="13" fill="hold" nodeType="clickEffect">
                            <p:childTnLst>
                              <p:animEffect transition="in" filter="fade">
                                <p:cBhvr>
                                  <p:cTn id="14" dur="450" fill="hold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evt="onClick" delay="indefinite">
                          <p:tgtEl>
                            <p:spTgt spid="6"/>
                          </p:tgtEl>
                        </p:cond>
                      </p:stCondLst>
                      <p:childTnLst>
                        <p:par>
                          <p:cTn id="16" fill="hold" nodeType="clickEffect">
                            <p:childTnLst>
                              <p:animEffect transition="in" filter="fade">
                                <p:cBhvr>
                                  <p:cTn id="17" dur="450" fill="hold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evt="onClick" delay="indefinite">
                          <p:tgtEl>
                            <p:spTgt spid="7"/>
                          </p:tgtEl>
                        </p:cond>
                      </p:stCondLst>
                      <p:childTnLst>
                        <p:par>
                          <p:cTn id="19" fill="hold" nodeType="clickEffect">
                            <p:childTnLst>
                              <p:animEffect transition="in" filter="fade">
                                <p:cBhvr>
                                  <p:cTn id="20" dur="450" fill="hold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evt="onClick" delay="indefinite">
                          <p:tgtEl>
                            <p:spTgt spid="8"/>
                          </p:tgtEl>
                        </p:cond>
                      </p:stCondLst>
                      <p:childTnLst>
                        <p:par>
                          <p:cTn id="22" fill="hold" nodeType="clickEffect">
                            <p:childTnLst>
                              <p:animEffect transition="in" filter="fade">
                                <p:cBhvr>
                                  <p:cTn id="23" dur="450" fill="hold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evt="onClick" delay="indefinite">
                          <p:tgtEl>
                            <p:spTgt spid="9"/>
                          </p:tgtEl>
                        </p:cond>
                      </p:stCondLst>
                      <p:childTnLst>
                        <p:par>
                          <p:cTn id="25" fill="hold" nodeType="clickEffect">
                            <p:childTnLst>
                              <p:animEffect transition="in" filter="fade">
                                <p:cBhvr>
                                  <p:cTn id="26" dur="450" fill="hold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evt="onClick" delay="indefinite">
                          <p:tgtEl>
                            <p:spTgt spid="10"/>
                          </p:tgtEl>
                        </p:cond>
                      </p:stCondLst>
                      <p:childTnLst>
                        <p:par>
                          <p:cTn id="28" fill="hold" nodeType="clickEffect">
                            <p:childTnLst>
                              <p:animEffect transition="in" filter="fade">
                                <p:cBhvr>
                                  <p:cTn id="29" dur="45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evt="onClick" delay="indefinite">
                          <p:tgtEl>
                            <p:spTgt spid="11"/>
                          </p:tgtEl>
                        </p:cond>
                      </p:stCondLst>
                      <p:childTnLst>
                        <p:par>
                          <p:cTn id="31" fill="hold" nodeType="clickEffect">
                            <p:childTnLst>
                              <p:animEffect transition="in" filter="fade">
                                <p:cBhvr>
                                  <p:cTn id="32" dur="450" fill="hold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-1828800"/>
            <a:ext cx="4572000" cy="4114800"/>
          </a:xfrm>
          <a:prstGeom prst="ellipse">
            <a:avLst/>
          </a:prstGeom>
          <a:solidFill>
            <a:srgbClr val="0E3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Poppins"/>
              </a:rPr>
              <a:t>Reading the Sky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BFD9F5"/>
                </a:solidFill>
                <a:latin typeface="Inter"/>
              </a:rPr>
              <a:t>How humans learned to predict the weather.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65960"/>
            <a:ext cx="10881360" cy="12801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2221991"/>
            <a:ext cx="768096" cy="768096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A2A43"/>
                </a:solidFill>
                <a:latin typeface="Poppin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2130552"/>
            <a:ext cx="9144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12324F"/>
                </a:solidFill>
                <a:latin typeface="Poppins"/>
              </a:rPr>
              <a:t>Weather Stations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4A6B8A"/>
                </a:solidFill>
                <a:latin typeface="Inter"/>
              </a:rPr>
              <a:t>Nations record sky data every single day.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447288"/>
            <a:ext cx="10881360" cy="12801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3703320"/>
            <a:ext cx="768096" cy="768096"/>
          </a:xfrm>
          <a:prstGeom prst="ellipse">
            <a:avLst/>
          </a:prstGeom>
          <a:solidFill>
            <a:srgbClr val="22B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Poppin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3611880"/>
            <a:ext cx="9144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12324F"/>
                </a:solidFill>
                <a:latin typeface="Poppins"/>
              </a:rPr>
              <a:t>Old Records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4A6B8A"/>
                </a:solidFill>
                <a:latin typeface="Inter"/>
              </a:rPr>
              <a:t>Past data reveals a region’s true climate.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928616"/>
            <a:ext cx="10881360" cy="12801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5184648"/>
            <a:ext cx="768096" cy="768096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A2A43"/>
                </a:solidFill>
                <a:latin typeface="Poppin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5093208"/>
            <a:ext cx="9144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12324F"/>
                </a:solidFill>
                <a:latin typeface="Poppins"/>
              </a:rPr>
              <a:t>Why It Matters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4A6B8A"/>
                </a:solidFill>
                <a:latin typeface="Inter"/>
              </a:rPr>
              <a:t>Sky science keeps flights, farms, and cities safe.</a:t>
            </a:r>
          </a:p>
        </p:txBody>
      </p:sp>
    </p:spTree>
  </p:cSld>
  <p:transition spd="med" dur="750">
    <p:fade thruBlk="0"/>
  </p:transition>
  <p:clrMapOvr>
    <a:masterClrMapping/>
  </p:clrMapOvr>
  <p:timing>
    <p:tnLst>
      <p:par>
        <p:cTn id="1" dur="indefinite" restart="never" nodeType="tmrPar">
          <p:childTnLst>
            <p:seq concurrent="1" nextAc="seek">
              <p:cTn id="2" dur="indefinite" nodeType="mainSeq">
                <p:childTnLst>
                  <p:par>
                    <p:cTn id="3" fill="hold" nodeType="withEffect">
                      <p:childTnLst>
                        <p:par>
                          <p:cTn id="4" fill="hold" nodeType="clickEffect">
                            <p:childTnLst>
                              <p:animEffect transition="in" filter="fade">
                                <p:cBhvr>
                                  <p:cTn id="5" dur="550" fill="hold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 nodeType="clickPar">
                      <p:stCondLst>
                        <p:cond evt="onClick" delay="indefinite">
                          <p:tgtEl>
                            <p:spTgt spid="4"/>
                          </p:tgtEl>
                        </p:cond>
                      </p:stCondLst>
                      <p:childTnLst>
                        <p:par>
                          <p:cTn id="7" fill="hold" nodeType="clickEffect">
                            <p:childTnLst>
                              <p:animEffect transition="in" filter="fade">
                                <p:cBhvr>
                                  <p:cTn id="8" dur="45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evt="onClick" delay="indefinite">
                          <p:tgtEl>
                            <p:spTgt spid="6"/>
                          </p:tgtEl>
                        </p:cond>
                      </p:stCondLst>
                      <p:childTnLst>
                        <p:par>
                          <p:cTn id="10" fill="hold" nodeType="clickEffect">
                            <p:childTnLst>
                              <p:animEffect transition="in" filter="fade">
                                <p:cBhvr>
                                  <p:cTn id="11" dur="450" fill="hold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evt="onClick" delay="indefinite">
                          <p:tgtEl>
                            <p:spTgt spid="7"/>
                          </p:tgtEl>
                        </p:cond>
                      </p:stCondLst>
                      <p:childTnLst>
                        <p:par>
                          <p:cTn id="13" fill="hold" nodeType="clickEffect">
                            <p:childTnLst>
                              <p:animEffect transition="in" filter="fade">
                                <p:cBhvr>
                                  <p:cTn id="14" dur="450" fill="hold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evt="onClick" delay="indefinite">
                          <p:tgtEl>
                            <p:spTgt spid="9"/>
                          </p:tgtEl>
                        </p:cond>
                      </p:stCondLst>
                      <p:childTnLst>
                        <p:par>
                          <p:cTn id="16" fill="hold" nodeType="clickEffect">
                            <p:childTnLst>
                              <p:animEffect transition="in" filter="fade">
                                <p:cBhvr>
                                  <p:cTn id="17" dur="450" fill="hold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evt="onClick" delay="indefinite">
                          <p:tgtEl>
                            <p:spTgt spid="10"/>
                          </p:tgtEl>
                        </p:cond>
                      </p:stCondLst>
                      <p:childTnLst>
                        <p:par>
                          <p:cTn id="19" fill="hold" nodeType="clickEffect">
                            <p:childTnLst>
                              <p:animEffect transition="in" filter="fade">
                                <p:cBhvr>
                                  <p:cTn id="20" dur="45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evt="onClick" delay="indefinite">
                          <p:tgtEl>
                            <p:spTgt spid="12"/>
                          </p:tgtEl>
                        </p:cond>
                      </p:stCondLst>
                      <p:childTnLst>
                        <p:par>
                          <p:cTn id="22" fill="hold" nodeType="clickEffect">
                            <p:childTnLst>
                              <p:animEffect transition="in" filter="fade">
                                <p:cBhvr>
                                  <p:cTn id="23" dur="450" fill="hold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3566160" cy="475488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A2A43"/>
                </a:solidFill>
                <a:latin typeface="Poppins"/>
              </a:rPr>
              <a:t>WORLD METEOROLOGICAL 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0" b="1">
                <a:solidFill>
                  <a:srgbClr val="12324F"/>
                </a:solidFill>
                <a:latin typeface="Poppins"/>
              </a:rPr>
              <a:t>23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400" b="1">
                <a:solidFill>
                  <a:srgbClr val="38BDF8"/>
                </a:solidFill>
                <a:latin typeface="Poppins"/>
              </a:rPr>
              <a:t>MARCH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4A6B8A"/>
                </a:solidFill>
                <a:latin typeface="Inter"/>
              </a:rPr>
              <a:t>One sky, one team — shared data saves crops and lives.</a:t>
            </a:r>
          </a:p>
        </p:txBody>
      </p:sp>
      <p:pic>
        <p:nvPicPr>
          <p:cNvPr id="4" name="Picture 3" descr="s8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914400"/>
            <a:ext cx="5029200" cy="5029200"/>
          </a:xfrm>
          <a:prstGeom prst="roundRect">
            <a:avLst/>
            <a:avLst>
              <a:gd name="adj" fmla="val 12000"/>
            </a:avLst>
          </a:prstGeom>
        </p:spPr>
      </p:pic>
    </p:spTree>
  </p:cSld>
  <p:transition spd="med" dur="750">
    <p:fade thruBlk="0"/>
  </p:transition>
  <p:clrMapOvr>
    <a:masterClrMapping/>
  </p:clrMapOvr>
  <p:timing>
    <p:tnLst>
      <p:par>
        <p:cTn id="1" dur="indefinite" restart="never" nodeType="tmrPar">
          <p:childTnLst>
            <p:seq concurrent="1" nextAc="seek">
              <p:cTn id="2" dur="indefinite" nodeType="mainSeq">
                <p:childTnLst>
                  <p:par>
                    <p:cTn id="3" fill="hold" nodeType="withEffect">
                      <p:childTnLst>
                        <p:par>
                          <p:cTn id="4" fill="hold" nodeType="clickEffect">
                            <p:childTnLst>
                              <p:animEffect transition="in" filter="fade">
                                <p:cBhvr>
                                  <p:cTn id="5" dur="550" fill="hold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 nodeType="withEffect">
                      <p:childTnLst>
                        <p:par>
                          <p:cTn id="7" fill="hold" nodeType="clickEffect">
                            <p:childTnLst>
                              <p:animEffect transition="in" filter="zoom">
                                <p:cBhvr>
                                  <p:cTn id="8" dur="1400" fill="hold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560320" y="-2011680"/>
            <a:ext cx="5029200" cy="4572000"/>
          </a:xfrm>
          <a:prstGeom prst="ellipse">
            <a:avLst/>
          </a:prstGeom>
          <a:solidFill>
            <a:srgbClr val="0E3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4754880"/>
            <a:ext cx="4572000" cy="4206240"/>
          </a:xfrm>
          <a:prstGeom prst="ellipse">
            <a:avLst/>
          </a:prstGeom>
          <a:solidFill>
            <a:srgbClr val="0E3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44568" y="1554480"/>
            <a:ext cx="3108960" cy="475488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A2A43"/>
                </a:solidFill>
                <a:latin typeface="Poppins"/>
              </a:rPr>
              <a:t>ENVIRONMENTAL MGMT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36015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9600" b="1">
                <a:solidFill>
                  <a:srgbClr val="FFFFFF"/>
                </a:solidFill>
                <a:latin typeface="Poppins"/>
              </a:rPr>
              <a:t>THE END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BFD9F5"/>
                </a:solidFill>
                <a:latin typeface="Inter"/>
              </a:rPr>
              <a:t>ABHISHEK  •  AYOUSH  •  KANISHK  •  SARTHAK  •  DHIAAN</a:t>
            </a:r>
          </a:p>
        </p:txBody>
      </p:sp>
    </p:spTree>
  </p:cSld>
  <p:transition spd="med" dur="900">
    <p:fade thruBlk="1"/>
  </p:transition>
  <p:clrMapOvr>
    <a:masterClrMapping/>
  </p:clrMapOvr>
  <p:timing>
    <p:tnLst>
      <p:par>
        <p:cTn id="1" dur="indefinite" restart="never" nodeType="tmrPar">
          <p:childTnLst>
            <p:seq concurrent="1" nextAc="seek">
              <p:cTn id="2" dur="indefinite" nodeType="mainSeq">
                <p:childTnLst>
                  <p:par>
                    <p:cTn id="3" fill="hold" nodeType="withEffect">
                      <p:childTnLst>
                        <p:par>
                          <p:cTn id="4" fill="hold" nodeType="clickEffect">
                            <p:childTnLst>
                              <p:animEffect transition="in" filter="fade">
                                <p:cBhvr>
                                  <p:cTn id="5" dur="550" fill="hold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